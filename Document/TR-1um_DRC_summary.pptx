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61" r:id="rId2"/>
    <p:sldId id="276" r:id="rId3"/>
    <p:sldId id="288" r:id="rId4"/>
    <p:sldId id="289" r:id="rId5"/>
    <p:sldId id="290" r:id="rId6"/>
    <p:sldId id="291" r:id="rId7"/>
    <p:sldId id="292" r:id="rId8"/>
    <p:sldId id="293" r:id="rId9"/>
    <p:sldId id="284" r:id="rId10"/>
    <p:sldId id="286" r:id="rId11"/>
    <p:sldId id="281" r:id="rId12"/>
    <p:sldId id="282" r:id="rId13"/>
    <p:sldId id="267" r:id="rId14"/>
    <p:sldId id="287" r:id="rId15"/>
    <p:sldId id="294" r:id="rId16"/>
    <p:sldId id="279" r:id="rId17"/>
    <p:sldId id="262" r:id="rId18"/>
    <p:sldId id="260" r:id="rId19"/>
    <p:sldId id="274" r:id="rId20"/>
    <p:sldId id="265" r:id="rId21"/>
    <p:sldId id="275" r:id="rId22"/>
    <p:sldId id="295" r:id="rId23"/>
    <p:sldId id="296" r:id="rId24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42"/>
    <p:restoredTop sz="94313"/>
  </p:normalViewPr>
  <p:slideViewPr>
    <p:cSldViewPr snapToGrid="0">
      <p:cViewPr varScale="1">
        <p:scale>
          <a:sx n="111" d="100"/>
          <a:sy n="111" d="100"/>
        </p:scale>
        <p:origin x="138" y="5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27778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554583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0513223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16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17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20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04355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07/01/2026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emf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emf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TR-1um</a:t>
            </a:r>
            <a:br>
              <a:rPr lang="en-US" dirty="0"/>
            </a:br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</a:t>
            </a:r>
            <a:r>
              <a:rPr lang="en-US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30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772992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698919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042992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158550" y="6102193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AR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0E0C9C9-DAA9-4579-97A3-ACCFDFCCF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1101" y="3414684"/>
            <a:ext cx="3455369" cy="26875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DDA5BE9-9D95-448B-9F00-8AAE08249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01" y="741162"/>
            <a:ext cx="4806135" cy="255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0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A46750C-1487-4AA6-828A-509BA9C2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887" y="596302"/>
            <a:ext cx="4347852" cy="4404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680887" y="5248327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AR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AC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5909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453327" y="5315791"/>
            <a:ext cx="4396715" cy="138499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  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DP/AP(D)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 not interacting GC inside 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DN/AN(D)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 not interacting GC outside WN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：AN-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：AP-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：WN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–(WN covering AC)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F52C864D-FEB9-4AE0-BF2D-D1BDA1941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327" y="533979"/>
            <a:ext cx="4574591" cy="463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18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5916143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CO.WB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43827" y="1440251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6657" y="3940026"/>
            <a:ext cx="62103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US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CO.WM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88804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48653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6762685" y="5103674"/>
            <a:ext cx="2808366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PMOS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AP&amp;GC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NMOS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AN&amp;GC 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 not interacting GC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CO(M)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CO(B)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BG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CO(Area&gt;=1.5um</a:t>
            </a:r>
            <a:r>
              <a:rPr lang="en-US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 for PMOS/NMOS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A1B2ED-5949-4E53-92C5-BCCEF076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813" y="540000"/>
            <a:ext cx="4960221" cy="4547633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C8023F0A-FE4D-4EE7-BF24-85123B0C4B7E}"/>
              </a:ext>
            </a:extLst>
          </p:cNvPr>
          <p:cNvSpPr txBox="1"/>
          <p:nvPr/>
        </p:nvSpPr>
        <p:spPr>
          <a:xfrm>
            <a:off x="9559280" y="5103674"/>
            <a:ext cx="2306624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GP：AN&amp;WN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AP-WN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covering AC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BG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(GP+GN)-WC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905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78309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01981" y="154936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2825016" y="50112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21882" y="48786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(R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S</a:t>
            </a:r>
            <a:r>
              <a:rPr lang="en-JP" sz="16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(AR/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GR</a:t>
            </a:r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3283" y="4391891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955708" y="432237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196575" y="43918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  <a:endParaRPr lang="en-US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1505895"/>
            <a:ext cx="378893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088" y="2268290"/>
            <a:ext cx="3785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  <a:stCxn id="76" idx="0"/>
            <a:endCxn id="71" idx="2"/>
          </p:cNvCxnSpPr>
          <p:nvPr/>
        </p:nvCxnSpPr>
        <p:spPr>
          <a:xfrm flipV="1">
            <a:off x="2032338" y="1721795"/>
            <a:ext cx="197" cy="5464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5" y="1723495"/>
            <a:ext cx="1056131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502180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O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4651180" y="6137578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215177" y="5513851"/>
            <a:ext cx="232422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RR(W)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Width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RR(L)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Length of AR effective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RROK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W=2.8,4,6,12,20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：GC in WN(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RSOK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Allowed W=4,6,12,20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WC  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 interacting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41334" y="963695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40093" y="555591"/>
            <a:ext cx="621030" cy="1846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CO.GR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C260D51-BDB3-4AC1-BDD5-D260A9E60B58}"/>
              </a:ext>
            </a:extLst>
          </p:cNvPr>
          <p:cNvCxnSpPr>
            <a:cxnSpLocks/>
            <a:stCxn id="5" idx="3"/>
            <a:endCxn id="5" idx="1"/>
          </p:cNvCxnSpPr>
          <p:nvPr/>
        </p:nvCxnSpPr>
        <p:spPr>
          <a:xfrm flipH="1">
            <a:off x="1481931" y="1989469"/>
            <a:ext cx="10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489650" y="20382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E556DB2-98C3-46BE-8FCF-1BE09AF7D411}"/>
              </a:ext>
            </a:extLst>
          </p:cNvPr>
          <p:cNvSpPr txBox="1"/>
          <p:nvPr/>
        </p:nvSpPr>
        <p:spPr>
          <a:xfrm>
            <a:off x="1474957" y="180895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6C55B81-D7B0-4199-9EDC-E4FD52F237A0}"/>
              </a:ext>
            </a:extLst>
          </p:cNvPr>
          <p:cNvSpPr txBox="1"/>
          <p:nvPr/>
        </p:nvSpPr>
        <p:spPr>
          <a:xfrm>
            <a:off x="9539406" y="5519498"/>
            <a:ext cx="2652594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O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(RR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(W&gt;=4.0)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CO(RRN)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AR(W=2.8)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N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：AR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side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fringe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(W=2.8)</a:t>
            </a: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ARW(S)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 side fringe (W&gt;=4.0)</a:t>
            </a:r>
            <a:endParaRPr lang="en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WC</a:t>
            </a:r>
          </a:p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 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CO(RSM)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CO(sized) &amp; GR(S)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9964BAE7-F02C-44EF-8A47-63D55F77379E}"/>
              </a:ext>
            </a:extLst>
          </p:cNvPr>
          <p:cNvSpPr txBox="1"/>
          <p:nvPr/>
        </p:nvSpPr>
        <p:spPr>
          <a:xfrm>
            <a:off x="5205097" y="4517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CR.W3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C602090-E10A-48F4-ACE7-C404BF136294}"/>
              </a:ext>
            </a:extLst>
          </p:cNvPr>
          <p:cNvSpPr txBox="1"/>
          <p:nvPr/>
        </p:nvSpPr>
        <p:spPr>
          <a:xfrm>
            <a:off x="5954059" y="44751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  <a:r>
              <a:rPr lang="en-US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JP" sz="1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75EC5E4-7E0B-49E9-857F-2A2A4A661569}"/>
              </a:ext>
            </a:extLst>
          </p:cNvPr>
          <p:cNvSpPr txBox="1"/>
          <p:nvPr/>
        </p:nvSpPr>
        <p:spPr>
          <a:xfrm>
            <a:off x="3723435" y="50776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F15911A-BCE7-444A-A292-F6301374E57B}"/>
              </a:ext>
            </a:extLst>
          </p:cNvPr>
          <p:cNvSpPr txBox="1"/>
          <p:nvPr/>
        </p:nvSpPr>
        <p:spPr>
          <a:xfrm>
            <a:off x="81547" y="6626168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836922B-F49C-4002-9104-D72A12A3D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2482" y="135305"/>
            <a:ext cx="3529580" cy="5408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728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5781209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016584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224319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554550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594300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597446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540760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594300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678700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684300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643539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693816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429412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982835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194299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143937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683540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699652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286691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144645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144645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167059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491784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4971345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4836677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4921642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623059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695073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335507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171230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703815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366341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319668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630110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139668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139668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144645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004331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059675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519649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656984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324645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630110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656984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634202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219768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195141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350831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396707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522907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567176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742654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578377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564680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834680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014680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459269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164500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866096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631149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629434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1803842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663907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713326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155098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353128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524819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360542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326681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1(C)</a:t>
            </a:r>
            <a:endParaRPr lang="en-JP" sz="14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304964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295392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357842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330220" y="5158784"/>
            <a:ext cx="4242876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：Wide M1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(W&gt;=10.0)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AC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interacting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(AN &amp;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</a:p>
          <a:p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on M1(C) (W=1.2um)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AC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(W=1.2um)</a:t>
            </a:r>
          </a:p>
          <a:p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 </a:t>
            </a:r>
            <a:r>
              <a:rPr lang="ja-JP" alt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 large contact (Area&gt;=1.5um</a:t>
            </a:r>
            <a:r>
              <a:rPr lang="en-US" altLang="ja-JP" sz="1200" baseline="300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2</a:t>
            </a:r>
            <a:r>
              <a:rPr lang="en-US" altLang="ja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320123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340053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544680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500123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546022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387280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370836" y="44998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endParaRPr lang="en-JP" sz="1200" b="1" strike="sngStrik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685852A7-D7B6-48C1-8C83-AC85134BFC35}"/>
              </a:ext>
            </a:extLst>
          </p:cNvPr>
          <p:cNvCxnSpPr>
            <a:cxnSpLocks/>
          </p:cNvCxnSpPr>
          <p:nvPr/>
        </p:nvCxnSpPr>
        <p:spPr>
          <a:xfrm>
            <a:off x="6677064" y="6114182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ECA3FF95-253F-4898-820C-9FAF2AB1F4C1}"/>
              </a:ext>
            </a:extLst>
          </p:cNvPr>
          <p:cNvCxnSpPr>
            <a:cxnSpLocks/>
          </p:cNvCxnSpPr>
          <p:nvPr/>
        </p:nvCxnSpPr>
        <p:spPr>
          <a:xfrm flipH="1">
            <a:off x="7007898" y="6114182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53F9D6F-285D-48F4-95BE-1194E484F778}"/>
              </a:ext>
            </a:extLst>
          </p:cNvPr>
          <p:cNvCxnSpPr/>
          <p:nvPr/>
        </p:nvCxnSpPr>
        <p:spPr>
          <a:xfrm>
            <a:off x="6837134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CD55970C-CDA9-40FB-8B6B-63A2A2F9E1A6}"/>
              </a:ext>
            </a:extLst>
          </p:cNvPr>
          <p:cNvCxnSpPr/>
          <p:nvPr/>
        </p:nvCxnSpPr>
        <p:spPr>
          <a:xfrm>
            <a:off x="7009240" y="6000727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5153D36-6FC2-4C2E-8EA5-2B66307366B7}"/>
              </a:ext>
            </a:extLst>
          </p:cNvPr>
          <p:cNvSpPr txBox="1"/>
          <p:nvPr/>
        </p:nvSpPr>
        <p:spPr>
          <a:xfrm>
            <a:off x="6638939" y="62499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C6FC3145-151F-4220-85FE-9EF804986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220" y="866299"/>
            <a:ext cx="4666639" cy="4269845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1E8D8CAA-F2BE-4966-92E6-DCF6BA6C4413}"/>
              </a:ext>
            </a:extLst>
          </p:cNvPr>
          <p:cNvSpPr txBox="1"/>
          <p:nvPr/>
        </p:nvSpPr>
        <p:spPr>
          <a:xfrm>
            <a:off x="2376887" y="464731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BFF95A57-0EA6-487F-B98F-6C582FC539C8}"/>
              </a:ext>
            </a:extLst>
          </p:cNvPr>
          <p:cNvSpPr txBox="1"/>
          <p:nvPr/>
        </p:nvSpPr>
        <p:spPr>
          <a:xfrm>
            <a:off x="7259969" y="6512237"/>
            <a:ext cx="472313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</a:t>
            </a:r>
            <a:r>
              <a:rPr lang="en-US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Strike-through rules are n</a:t>
            </a:r>
            <a:r>
              <a:rPr lang="en-JP" sz="1600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ot yet implemented</a:t>
            </a:r>
          </a:p>
        </p:txBody>
      </p:sp>
    </p:spTree>
    <p:extLst>
      <p:ext uri="{BB962C8B-B14F-4D97-AF65-F5344CB8AC3E}">
        <p14:creationId xmlns:p14="http://schemas.microsoft.com/office/powerpoint/2010/main" val="190743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221098" y="4038819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221097" y="1221923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177006" y="616914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727829" y="1214018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407763" y="983092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734476" y="4106418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177006" y="743601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089580" y="994135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736665" y="54281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371203" y="2546729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374076" y="442919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474811" y="42218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3596813" y="324327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3628971" y="332459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720718" y="126199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498048" y="232475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2623887" y="2511250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199501" y="138149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3743993" y="430016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449438" y="240236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449438" y="184825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200199" y="193064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450179" y="193356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2537033" y="204762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2557036" y="2142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2514676" y="16463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2673445" y="25409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417880" y="163489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3789182" y="1222610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3776792" y="1807289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3743993" y="4019663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2630891" y="5234914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456442" y="512603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456442" y="4571918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457183" y="465722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2544037" y="4771288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2564040" y="486608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2521680" y="43700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2668712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1811870" y="19602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208191" y="466493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1828408" y="469452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301653" y="513357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301653" y="4579465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3610745" y="5223577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026523" y="525959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199501" y="53235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417880" y="5576942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301512" y="238517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301512" y="183106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3609506" y="2494694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034337" y="25487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95459" y="533616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151195" y="585641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457312" y="4038275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5680190" y="4038275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5676256" y="40196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5527376" y="382842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478702" y="1229600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5701580" y="1229600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5697646" y="1210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5548766" y="10197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6667" y="3395950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4655367" y="2910843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4647553" y="3575145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4647553" y="30128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4655367" y="381495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361727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4913242" y="1353835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361727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4913242" y="548665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6951212" y="4434104"/>
            <a:ext cx="411671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APE/ANE：AP/AN on ESD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 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：CO on ESD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2303007-3E59-451C-924F-7DA16C589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452" y="531585"/>
            <a:ext cx="4811496" cy="379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9F3C2F1-39B7-4C28-BD2D-EB6E4DDEE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134" y="1024669"/>
            <a:ext cx="5153025" cy="359092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597379" y="5562923"/>
            <a:ext cx="2239251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4700958" y="5894688"/>
            <a:ext cx="203001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P/AN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6892056" y="3638679"/>
            <a:ext cx="5153025" cy="976915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673437" y="470969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6852465" y="5080791"/>
            <a:ext cx="4116711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covering</a:t>
            </a:r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PO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</a:t>
            </a:r>
            <a:r>
              <a:rPr lang="en-US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through M1(P)-M2(P)</a:t>
            </a:r>
            <a:endParaRPr lang="en-JP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Obsolete slides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337809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6386141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E48398-6FCA-46C2-8F04-AFA9CF102FD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926122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Wmin</a:t>
                      </a:r>
                      <a:r>
                        <a:rPr lang="en-US" sz="1100" u="none" strike="noStrike" dirty="0">
                          <a:effectLst/>
                        </a:rPr>
                        <a:t>/max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120.0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AC.S1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AN.WC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WN(C)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Efix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AC.R1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AN(C)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Donut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0.0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  <p:sp>
        <p:nvSpPr>
          <p:cNvPr id="115" name="TextBox 114">
            <a:extLst>
              <a:ext uri="{FF2B5EF4-FFF2-40B4-BE49-F238E27FC236}">
                <a16:creationId xmlns:a16="http://schemas.microsoft.com/office/drawing/2014/main" id="{4A98CAAF-D3BC-4D47-93AA-AB306E68FCFA}"/>
              </a:ext>
            </a:extLst>
          </p:cNvPr>
          <p:cNvSpPr txBox="1"/>
          <p:nvPr/>
        </p:nvSpPr>
        <p:spPr>
          <a:xfrm>
            <a:off x="4339650" y="41901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R1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6BE8BBB-A8FA-44B0-B168-9BE308BE7E04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  <p:sp>
        <p:nvSpPr>
          <p:cNvPr id="81" name="TextBox 80">
            <a:extLst>
              <a:ext uri="{FF2B5EF4-FFF2-40B4-BE49-F238E27FC236}">
                <a16:creationId xmlns:a16="http://schemas.microsoft.com/office/drawing/2014/main" id="{00AD8C03-1218-4C27-BFFF-8328F8FD1380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291173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Wfix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1100" u="none" strike="noStrike" dirty="0">
                          <a:effectLst/>
                        </a:rPr>
                        <a:t>1.</a:t>
                      </a:r>
                      <a:r>
                        <a:rPr lang="en-US" altLang="ja-JP" sz="1100" u="none" strike="noStrike" dirty="0">
                          <a:effectLst/>
                        </a:rPr>
                        <a:t>0</a:t>
                      </a:r>
                      <a:endParaRPr lang="en-JP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  <p:sp>
        <p:nvSpPr>
          <p:cNvPr id="96" name="TextBox 95">
            <a:extLst>
              <a:ext uri="{FF2B5EF4-FFF2-40B4-BE49-F238E27FC236}">
                <a16:creationId xmlns:a16="http://schemas.microsoft.com/office/drawing/2014/main" id="{89D40A2C-1080-447D-8AED-30096F1AFCF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729329" y="5055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870075" y="1556724"/>
            <a:ext cx="2898925" cy="865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19553" y="1646513"/>
            <a:ext cx="2898925" cy="67915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304708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4886801" y="1666306"/>
            <a:ext cx="8724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492301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52274" y="1666306"/>
            <a:ext cx="69439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782003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922748" y="371256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751904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627" y="2999233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468166" y="216792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  <a:stCxn id="89" idx="1"/>
            <a:endCxn id="89" idx="3"/>
          </p:cNvCxnSpPr>
          <p:nvPr/>
        </p:nvCxnSpPr>
        <p:spPr>
          <a:xfrm>
            <a:off x="4783707" y="5341668"/>
            <a:ext cx="144676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4886801" y="966361"/>
            <a:ext cx="872447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83707" y="4685204"/>
            <a:ext cx="1446767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379011" y="6183679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543636" y="5541370"/>
            <a:ext cx="2378031" cy="133882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long  side on AR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AR.W1 ：allow only 2.8,4,6,12,20</a:t>
            </a: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GR.W1 ：allow only 4,6,12,20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5305590"/>
              </p:ext>
            </p:extLst>
          </p:nvPr>
        </p:nvGraphicFramePr>
        <p:xfrm>
          <a:off x="7586075" y="398869"/>
          <a:ext cx="4319999" cy="519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Rule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L1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L2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Func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MIN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MAX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AR.W1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2.8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AR.WF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ARF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Require</a:t>
                      </a: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5246168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AR.L1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RR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RR(W)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Lmin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/max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13.0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AR.GC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GC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AR.PW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AR.XY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Bevel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XYmin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???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Donut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GC.R2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GC(R)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WN(R)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TieDown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RS(L)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4.0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GR.L1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RS(W)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Lmin/max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100.0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GR.S1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RS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2.0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CR.W2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CL(RR)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Wmin/max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1.0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50"/>
                          </a:solidFill>
                          <a:effectLst/>
                          <a:latin typeface="+mn-lt"/>
                        </a:rPr>
                        <a:t>20.0</a:t>
                      </a:r>
                      <a:endParaRPr lang="en-JP" sz="900" b="1" i="0" u="none" strike="noStrike" dirty="0">
                        <a:solidFill>
                          <a:srgbClr val="00B05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CR.AR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CO(RR)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AR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Emin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181918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CR.AT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AR(T)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1.5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CR.AS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CO(RR)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AR(S)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Efix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0.9@W=2.8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1.2@W=&gt;4</a:t>
                      </a: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 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CC.W1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Wfix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CC.S1/CO.SC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Sfix</a:t>
                      </a: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/</a:t>
                      </a: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Smin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CC.AC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AC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2.9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CC.AN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CO(C)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>
                          <a:effectLst/>
                          <a:latin typeface="+mn-lt"/>
                        </a:rPr>
                        <a:t>AN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u="none" strike="noStrike" dirty="0" err="1">
                          <a:effectLst/>
                          <a:latin typeface="+mn-lt"/>
                        </a:rPr>
                        <a:t>Emin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1.2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u="none" strike="noStrike" dirty="0">
                          <a:effectLst/>
                          <a:latin typeface="+mn-lt"/>
                        </a:rPr>
                        <a:t> </a:t>
                      </a:r>
                      <a:endParaRPr lang="en-JP" sz="9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CO.WS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Wfix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88721037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CS.S1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Sfix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7904938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GR.AT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GR(T)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0.8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14899365"/>
                  </a:ext>
                </a:extLst>
              </a:tr>
              <a:tr h="19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GR.AS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CO(RS)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GR(S)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1" u="none" strike="noStrike" dirty="0" err="1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Efix</a:t>
                      </a:r>
                      <a:endParaRPr lang="en-US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JP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1.</a:t>
                      </a:r>
                      <a:r>
                        <a:rPr lang="en-US" altLang="ja-JP" sz="900" b="1" u="none" strike="noStrike" dirty="0">
                          <a:solidFill>
                            <a:srgbClr val="00B0F0"/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JP" altLang="ja-JP" sz="900" b="1" i="0" u="none" strike="noStrike" dirty="0">
                        <a:solidFill>
                          <a:srgbClr val="00B0F0"/>
                        </a:solidFill>
                        <a:effectLst/>
                        <a:latin typeface="+mn-lt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012603158"/>
                  </a:ext>
                </a:extLst>
              </a:tr>
            </a:tbl>
          </a:graphicData>
        </a:graphic>
      </p:graphicFrame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02A576D6-F178-42CA-85F7-0F7ED0180DEB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6875740" y="851773"/>
            <a:ext cx="232134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75934F88-9753-4E99-8848-70645F7FED83}"/>
              </a:ext>
            </a:extLst>
          </p:cNvPr>
          <p:cNvSpPr txBox="1"/>
          <p:nvPr/>
        </p:nvSpPr>
        <p:spPr>
          <a:xfrm>
            <a:off x="6906828" y="9636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R.AS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4107F93-3718-49BC-B297-822A1B8F7319}"/>
              </a:ext>
            </a:extLst>
          </p:cNvPr>
          <p:cNvCxnSpPr>
            <a:cxnSpLocks/>
            <a:stCxn id="46" idx="3"/>
            <a:endCxn id="17" idx="0"/>
          </p:cNvCxnSpPr>
          <p:nvPr/>
        </p:nvCxnSpPr>
        <p:spPr>
          <a:xfrm>
            <a:off x="6769016" y="536626"/>
            <a:ext cx="5124" cy="207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57521C80-023C-40F7-8BFC-C24E8EDD681B}"/>
              </a:ext>
            </a:extLst>
          </p:cNvPr>
          <p:cNvSpPr txBox="1"/>
          <p:nvPr/>
        </p:nvSpPr>
        <p:spPr>
          <a:xfrm>
            <a:off x="6905587" y="55559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R.A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19783C4-5947-477C-8DBA-2C20E7E9B0F7}"/>
              </a:ext>
            </a:extLst>
          </p:cNvPr>
          <p:cNvSpPr txBox="1"/>
          <p:nvPr/>
        </p:nvSpPr>
        <p:spPr>
          <a:xfrm>
            <a:off x="5360576" y="52796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WS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" name="Picture 107">
            <a:extLst>
              <a:ext uri="{FF2B5EF4-FFF2-40B4-BE49-F238E27FC236}">
                <a16:creationId xmlns:a16="http://schemas.microsoft.com/office/drawing/2014/main" id="{E4BE648E-5836-40D6-9170-2F77A252C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749707"/>
            <a:ext cx="203200" cy="215900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E94BC60B-D9D2-488B-8685-0DDF90232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4012" y="2997036"/>
            <a:ext cx="203200" cy="215900"/>
          </a:xfrm>
          <a:prstGeom prst="rect">
            <a:avLst/>
          </a:prstGeom>
        </p:spPr>
      </p:pic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423A342-A7F3-486A-875D-5EDCC084016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>
            <a:off x="5515612" y="965607"/>
            <a:ext cx="0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1B5AA609-35F7-48AA-98C4-8854566316A0}"/>
              </a:ext>
            </a:extLst>
          </p:cNvPr>
          <p:cNvCxnSpPr>
            <a:cxnSpLocks/>
            <a:stCxn id="108" idx="1"/>
            <a:endCxn id="108" idx="3"/>
          </p:cNvCxnSpPr>
          <p:nvPr/>
        </p:nvCxnSpPr>
        <p:spPr>
          <a:xfrm>
            <a:off x="5414012" y="857657"/>
            <a:ext cx="203200" cy="0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3EBB022-C090-4050-8A9D-BCA69330456D}"/>
              </a:ext>
            </a:extLst>
          </p:cNvPr>
          <p:cNvCxnSpPr>
            <a:cxnSpLocks/>
            <a:stCxn id="16" idx="3"/>
            <a:endCxn id="108" idx="1"/>
          </p:cNvCxnSpPr>
          <p:nvPr/>
        </p:nvCxnSpPr>
        <p:spPr>
          <a:xfrm flipV="1">
            <a:off x="5252827" y="857657"/>
            <a:ext cx="161185" cy="2197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180C1BFE-B655-49F4-94DC-BA160FACD936}"/>
              </a:ext>
            </a:extLst>
          </p:cNvPr>
          <p:cNvSpPr txBox="1"/>
          <p:nvPr/>
        </p:nvSpPr>
        <p:spPr>
          <a:xfrm>
            <a:off x="4955745" y="95884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</a:t>
            </a:r>
            <a:r>
              <a:rPr lang="en-JP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S1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92CDE6B-2914-4163-918C-23162C57774F}"/>
              </a:ext>
            </a:extLst>
          </p:cNvPr>
          <p:cNvSpPr txBox="1"/>
          <p:nvPr/>
        </p:nvSpPr>
        <p:spPr>
          <a:xfrm>
            <a:off x="9746074" y="5621881"/>
            <a:ext cx="2378031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 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Small(1um</a:t>
            </a:r>
            <a:r>
              <a:rPr lang="ja-JP" alt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□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 CO</a:t>
            </a:r>
            <a:endParaRPr lang="en-US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</a:t>
            </a:r>
            <a:r>
              <a:rPr lang="en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)：CO on </a:t>
            </a:r>
            <a:r>
              <a:rPr lang="en-US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(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T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)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top fringe</a:t>
            </a:r>
          </a:p>
          <a:p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GR(S) </a:t>
            </a:r>
            <a:r>
              <a:rPr lang="en-JP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：</a:t>
            </a:r>
            <a:r>
              <a:rPr lang="en-US" altLang="ja-JP" sz="9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GR side fringe</a:t>
            </a:r>
          </a:p>
          <a:p>
            <a:endParaRPr lang="en-US" altLang="ja-JP" sz="9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E931651-EC46-4B05-9CF3-F831BD71A1C2}"/>
              </a:ext>
            </a:extLst>
          </p:cNvPr>
          <p:cNvCxnSpPr>
            <a:cxnSpLocks/>
          </p:cNvCxnSpPr>
          <p:nvPr/>
        </p:nvCxnSpPr>
        <p:spPr>
          <a:xfrm>
            <a:off x="4908392" y="4005959"/>
            <a:ext cx="307315" cy="354261"/>
          </a:xfrm>
          <a:prstGeom prst="straightConnector1">
            <a:avLst/>
          </a:prstGeom>
          <a:ln>
            <a:solidFill>
              <a:srgbClr val="00B0F0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F48202E2-FEC8-4C06-91D2-01E8DE439BDC}"/>
              </a:ext>
            </a:extLst>
          </p:cNvPr>
          <p:cNvSpPr txBox="1"/>
          <p:nvPr/>
        </p:nvSpPr>
        <p:spPr>
          <a:xfrm>
            <a:off x="4359135" y="38425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CR.AR</a:t>
            </a:r>
            <a:endParaRPr lang="en-JP" sz="1200" b="1" dirty="0">
              <a:solidFill>
                <a:srgbClr val="00B0F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17F8D07-EDBC-4885-AB16-6D68FA120459}"/>
              </a:ext>
            </a:extLst>
          </p:cNvPr>
          <p:cNvSpPr txBox="1"/>
          <p:nvPr/>
        </p:nvSpPr>
        <p:spPr>
          <a:xfrm>
            <a:off x="3726089" y="491790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strike="sngStrike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303C0AB4-A6E8-47AC-91FE-C358D27A0571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79550" y="5203724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37005"/>
              </p:ext>
            </p:extLst>
          </p:nvPr>
        </p:nvGraphicFramePr>
        <p:xfrm>
          <a:off x="7634979" y="606375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CO(C)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1.3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M1.CL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CO(L)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Fmin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1.2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  <p:sp>
        <p:nvSpPr>
          <p:cNvPr id="78" name="Rectangle 77">
            <a:extLst>
              <a:ext uri="{FF2B5EF4-FFF2-40B4-BE49-F238E27FC236}">
                <a16:creationId xmlns:a16="http://schemas.microsoft.com/office/drawing/2014/main" id="{66166AA0-1859-4FF7-BB1D-58CA2CFBA3FB}"/>
              </a:ext>
            </a:extLst>
          </p:cNvPr>
          <p:cNvSpPr/>
          <p:nvPr/>
        </p:nvSpPr>
        <p:spPr>
          <a:xfrm>
            <a:off x="2542317" y="50257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B8E94CD-E408-4B84-A3CA-3803A527D1F3}"/>
              </a:ext>
            </a:extLst>
          </p:cNvPr>
          <p:cNvCxnSpPr>
            <a:cxnSpLocks/>
          </p:cNvCxnSpPr>
          <p:nvPr/>
        </p:nvCxnSpPr>
        <p:spPr>
          <a:xfrm>
            <a:off x="2562247" y="4929930"/>
            <a:ext cx="1600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3DCFEF87-DE7A-447E-B13B-FAC4172BDF20}"/>
              </a:ext>
            </a:extLst>
          </p:cNvPr>
          <p:cNvCxnSpPr>
            <a:cxnSpLocks/>
          </p:cNvCxnSpPr>
          <p:nvPr/>
        </p:nvCxnSpPr>
        <p:spPr>
          <a:xfrm flipH="1">
            <a:off x="2766874" y="4929930"/>
            <a:ext cx="1670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D800CD8-615F-46B7-8693-8D47F2C040BD}"/>
              </a:ext>
            </a:extLst>
          </p:cNvPr>
          <p:cNvCxnSpPr>
            <a:endCxn id="78" idx="3"/>
          </p:cNvCxnSpPr>
          <p:nvPr/>
        </p:nvCxnSpPr>
        <p:spPr>
          <a:xfrm>
            <a:off x="2722317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0F1F0D8-27F7-43BB-B458-D99C4EFAB52D}"/>
              </a:ext>
            </a:extLst>
          </p:cNvPr>
          <p:cNvCxnSpPr/>
          <p:nvPr/>
        </p:nvCxnSpPr>
        <p:spPr>
          <a:xfrm>
            <a:off x="2768216" y="4816475"/>
            <a:ext cx="0" cy="206700"/>
          </a:xfrm>
          <a:prstGeom prst="line">
            <a:avLst/>
          </a:prstGeom>
          <a:ln w="952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549B20C6-8397-469A-9B70-65F3BAC0321A}"/>
              </a:ext>
            </a:extLst>
          </p:cNvPr>
          <p:cNvSpPr txBox="1"/>
          <p:nvPr/>
        </p:nvSpPr>
        <p:spPr>
          <a:xfrm>
            <a:off x="2609474" y="5040144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C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)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CED6F80-4B2A-4A93-A93C-EDE1932AFFEE}"/>
              </a:ext>
            </a:extLst>
          </p:cNvPr>
          <p:cNvSpPr txBox="1"/>
          <p:nvPr/>
        </p:nvSpPr>
        <p:spPr>
          <a:xfrm>
            <a:off x="2542585" y="526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endParaRPr lang="en-JP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848923D-030E-4AC3-9934-982B7674484B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/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  <p:sp>
        <p:nvSpPr>
          <p:cNvPr id="80" name="TextBox 79">
            <a:extLst>
              <a:ext uri="{FF2B5EF4-FFF2-40B4-BE49-F238E27FC236}">
                <a16:creationId xmlns:a16="http://schemas.microsoft.com/office/drawing/2014/main" id="{1C61A5DE-5992-4EC3-B000-C3A3D53FEEF5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33230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/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E608EF-D37E-42C0-9FDD-8BF511A73826}"/>
              </a:ext>
            </a:extLst>
          </p:cNvPr>
          <p:cNvSpPr txBox="1"/>
          <p:nvPr/>
        </p:nvSpPr>
        <p:spPr>
          <a:xfrm rot="18857572">
            <a:off x="3681204" y="2322102"/>
            <a:ext cx="484766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>
                    <a:lumMod val="85000"/>
                  </a:schemeClr>
                </a:solidFill>
              </a:rPr>
              <a:t>Obsolete</a:t>
            </a:r>
            <a:endParaRPr kumimoji="1" lang="ja-JP" altLang="en-US" sz="96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0796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7961</TotalTime>
  <Words>4018</Words>
  <Application>Microsoft Office PowerPoint</Application>
  <PresentationFormat>Widescreen</PresentationFormat>
  <Paragraphs>1609</Paragraphs>
  <Slides>23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Aptos</vt:lpstr>
      <vt:lpstr>Aptos Display</vt:lpstr>
      <vt:lpstr>HGMaruGothicMPRO</vt:lpstr>
      <vt:lpstr>Meiryo</vt:lpstr>
      <vt:lpstr>Arial</vt:lpstr>
      <vt:lpstr>Courier New</vt:lpstr>
      <vt:lpstr>Office Theme</vt:lpstr>
      <vt:lpstr>TR-1um 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Obsolete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Rules Summary</dc:title>
  <dc:creator>Jun OKAMURA/岡村淳一</dc:creator>
  <cp:lastModifiedBy>Hiroyasu Ojiro</cp:lastModifiedBy>
  <cp:revision>168</cp:revision>
  <cp:lastPrinted>2025-12-26T07:04:29Z</cp:lastPrinted>
  <dcterms:created xsi:type="dcterms:W3CDTF">2025-11-21T00:35:17Z</dcterms:created>
  <dcterms:modified xsi:type="dcterms:W3CDTF">2026-07-01T04:38:38Z</dcterms:modified>
</cp:coreProperties>
</file>