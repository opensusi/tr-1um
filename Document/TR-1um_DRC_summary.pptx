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61" r:id="rId2"/>
    <p:sldId id="276" r:id="rId3"/>
    <p:sldId id="288" r:id="rId4"/>
    <p:sldId id="289" r:id="rId5"/>
    <p:sldId id="290" r:id="rId6"/>
    <p:sldId id="291" r:id="rId7"/>
    <p:sldId id="292" r:id="rId8"/>
    <p:sldId id="293" r:id="rId9"/>
    <p:sldId id="284" r:id="rId10"/>
    <p:sldId id="286" r:id="rId11"/>
    <p:sldId id="281" r:id="rId12"/>
    <p:sldId id="282" r:id="rId13"/>
    <p:sldId id="267" r:id="rId14"/>
    <p:sldId id="287" r:id="rId15"/>
    <p:sldId id="294" r:id="rId16"/>
    <p:sldId id="299" r:id="rId17"/>
    <p:sldId id="300" r:id="rId18"/>
    <p:sldId id="301" r:id="rId19"/>
    <p:sldId id="302" r:id="rId20"/>
    <p:sldId id="303" r:id="rId21"/>
    <p:sldId id="304" r:id="rId22"/>
    <p:sldId id="305" r:id="rId23"/>
    <p:sldId id="306" r:id="rId24"/>
    <p:sldId id="297" r:id="rId25"/>
    <p:sldId id="279" r:id="rId26"/>
    <p:sldId id="262" r:id="rId27"/>
    <p:sldId id="260" r:id="rId28"/>
    <p:sldId id="274" r:id="rId29"/>
    <p:sldId id="265" r:id="rId30"/>
    <p:sldId id="275" r:id="rId31"/>
    <p:sldId id="295" r:id="rId32"/>
    <p:sldId id="296" r:id="rId33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BFBF"/>
    <a:srgbClr val="D1D1D1"/>
    <a:srgbClr val="FF8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442"/>
    <p:restoredTop sz="91752" autoAdjust="0"/>
  </p:normalViewPr>
  <p:slideViewPr>
    <p:cSldViewPr snapToGrid="0">
      <p:cViewPr>
        <p:scale>
          <a:sx n="100" d="100"/>
          <a:sy n="100" d="100"/>
        </p:scale>
        <p:origin x="330" y="7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AD172-39F1-384B-B9C8-80D91A739FE8}" type="datetimeFigureOut">
              <a:rPr lang="en-JP" smtClean="0"/>
              <a:t>07/27/2026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3EBC5-4531-E144-9B33-64051A952B3E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6506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277787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554583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0513223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2830264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3664-EB18-D4B5-071D-00B4B2B2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84B4-2FE1-91EB-B1C7-E75F7C7FC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00931-E8FC-08F2-1840-A75BC4552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82D30-4710-6AD0-28DC-BF626D609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48559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A064D-B7BA-86E3-60F6-71B9742D0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4615E-E1B6-183A-2C7E-031C05449A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7E24AD-13ED-2EE9-9BAC-09AEE8F482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8410A-1DC8-B75A-0129-5D0F0B8DDA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741884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2538594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8130373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20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2840622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25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726896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26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44110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29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043552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1139-0281-534D-2C2C-E986AA1D1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28882-072E-72EC-1263-D6D9C8CCD2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4A69C-7621-1E06-9A44-45787865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07/27/2026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16FEE-4E9E-7837-04B3-6CE68E15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6D280-6EC1-6B29-0978-89CDE510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3898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92A0-C894-8093-0B01-12970A2A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3F539-0E38-750C-DDF9-F87C47E1F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BDA5F-0C0F-5044-BA2F-B3196999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07/27/2026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AAFC-3B3E-664E-F5A7-90640854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8AC8B-09B5-476E-D042-64D75169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84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1381-9E3B-4D62-405F-1B5BAE7C7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F59D3-E88A-13EB-0A4E-6DB32E8B5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BDFC4-AB5F-56A3-32F3-566C4E29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07/27/2026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AF16-C5EE-1DDD-BC1B-4716552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6E8D9-07B2-1B7C-37C6-001FEC999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1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B003-9A57-56C8-D2F3-DE5AAED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85106-36F9-1F41-87F0-02CDCA0E0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9D0E-EE45-9445-1A13-CED19B6B7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6C934-222A-CB19-F846-BDB0E43E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07/27/2026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B455C-5622-2B5F-2763-B39BA151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A2CBD-8001-14D7-2457-4CF2EB92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19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9BD1-F30C-37C6-B441-A4FEE67B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74027-C8A4-CE90-7B20-D2A645521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3CCB8-C7BB-58B4-3D87-41CB8381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DBF1-CE99-601B-BB4A-C559908E6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B98B3-B82F-DB66-B341-895BA8FA9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AAB7E-0F8E-DEB5-601A-EFFEB680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07/27/2026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1C942-E9FE-C67E-053A-E2575757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959AC-A877-0210-A3D1-48634E33A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2011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0125-F709-E1C0-D547-326BFAFE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F730DB-ECEB-879C-F7E7-78648481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07/27/2026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DA30FE-E41C-5479-DA0D-1150C98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2F7BB-A296-89C1-A455-701424C2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6533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30271E-2ED3-E368-A801-383D9608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07/27/2026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935DD-E053-B0A8-ADB5-602A24F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DD3E-CC91-4965-ACA8-A21EF6F6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003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19417-7B5C-6376-DEE6-9063865C3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B588-B60C-783A-7CB3-39DAC943A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FFCA2-C2A9-94A3-2013-47E07F9B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5C8B-1BBE-3317-C509-F70F38EE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07/27/2026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DBEC3-7EFE-F6DC-4552-5B07875DC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36F4A-3FF4-3997-2256-0BBF782D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12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1713-781C-1A57-2177-176BEE072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3E7D5-0C70-486F-C458-174C3860B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1B210-0095-FC7E-E093-BFBA493F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275A4-552C-DDAB-1451-3864FAC55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07/27/2026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E6103-2F3D-E176-3885-13641359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6E5-AC99-2EB4-BD2C-5E29CEF0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3970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8931-C5F1-E8E2-BEDB-1F44787D4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C88CB-2A10-20A0-0E5E-72501D886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6653-E4B3-DEA5-6F08-C35A4CEF6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07/27/2026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13807-A49A-6411-A223-25862B20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1492-2781-76D2-B501-A145538D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8682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01A375-EDDA-1EC7-B2F8-58DF3F4CD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4AA73-0AE2-D135-F010-3836C30AC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4BA30-AD0B-CF71-B213-F3FE5E9A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07/27/2026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58892-905B-FA38-D371-E1D23765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87A41-EB9D-B521-A4E0-F676445F0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9220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40A38D-0D72-43A4-5A7C-4BF80401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6EA93-8766-105D-C328-655573897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B7B09-43BF-B784-20BD-1438BBDDE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9AE6-31FA-0744-9E3B-7C0574DED9C6}" type="datetimeFigureOut">
              <a:rPr lang="en-JP" smtClean="0"/>
              <a:t>07/27/2026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079C-CF1B-E8D3-B947-81C13273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EAF88-9B28-02A9-1BE1-9712C15D5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783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emf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emf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emf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1A43-4858-8351-B5A3-52B1EEA05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TR-1um</a:t>
            </a:r>
            <a:br>
              <a:rPr lang="en-US" dirty="0"/>
            </a:br>
            <a:r>
              <a:rPr lang="en-JP" dirty="0"/>
              <a:t>Design Rules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12272-103F-4063-9379-B1638CB5B2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13359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</a:t>
            </a:r>
            <a:r>
              <a:rPr lang="en-JP" dirty="0"/>
              <a:t>or Drawing Layers</a:t>
            </a:r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</a:t>
            </a:r>
            <a:r>
              <a:rPr lang="en-US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7</a:t>
            </a:r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/</a:t>
            </a:r>
            <a:r>
              <a:rPr lang="en-US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27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Reflected GitHub issues</a:t>
            </a:r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/OpenSUSI/TR-1um/issues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43465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1CAD5-7C02-3A9E-7B28-142B416C926E}"/>
              </a:ext>
            </a:extLst>
          </p:cNvPr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Drawing Layer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Table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7002D7-C769-7778-AD81-39024131F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3019" y="520420"/>
            <a:ext cx="6165961" cy="61189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9E9B118-20A8-825A-292B-D49D2E2B5221}"/>
              </a:ext>
            </a:extLst>
          </p:cNvPr>
          <p:cNvSpPr txBox="1"/>
          <p:nvPr/>
        </p:nvSpPr>
        <p:spPr>
          <a:xfrm>
            <a:off x="0" y="520420"/>
            <a:ext cx="3047506" cy="2446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*IMPORTANT*</a:t>
            </a:r>
          </a:p>
          <a:p>
            <a:pPr algn="ctr"/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  <a:p>
            <a:pPr lvl="1">
              <a:lnSpc>
                <a:spcPct val="150000"/>
              </a:lnSpc>
            </a:pPr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DBU: 0.001um</a:t>
            </a:r>
          </a:p>
          <a:p>
            <a:pPr lvl="1">
              <a:lnSpc>
                <a:spcPct val="150000"/>
              </a:lnSpc>
            </a:pPr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Scale Factor: 1.0</a:t>
            </a:r>
          </a:p>
          <a:p>
            <a:pPr lvl="1">
              <a:lnSpc>
                <a:spcPct val="150000"/>
              </a:lnSpc>
            </a:pPr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Min Grid: 0.05um</a:t>
            </a:r>
          </a:p>
          <a:p>
            <a:pPr algn="ctr"/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33237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Cat-1: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9740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420371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420371" y="822607"/>
            <a:ext cx="967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2900971" y="2227690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840828" y="231302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2900971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840828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5772992" y="765375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5698919" y="75442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6042992" y="1035375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6287150" y="1134707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231101" y="6027003"/>
            <a:ext cx="4116711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AA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AP+AN+AC+AR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AR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interacting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7C2924-FB81-343E-47B2-85E2D71D0967}"/>
              </a:ext>
            </a:extLst>
          </p:cNvPr>
          <p:cNvSpPr/>
          <p:nvPr/>
        </p:nvSpPr>
        <p:spPr>
          <a:xfrm>
            <a:off x="4108620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3F52F-9D42-8FDC-D484-B016975E6793}"/>
              </a:ext>
            </a:extLst>
          </p:cNvPr>
          <p:cNvSpPr txBox="1"/>
          <p:nvPr/>
        </p:nvSpPr>
        <p:spPr>
          <a:xfrm>
            <a:off x="4108620" y="822607"/>
            <a:ext cx="102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D0CB4E-DE95-A094-1001-66FB908618F0}"/>
              </a:ext>
            </a:extLst>
          </p:cNvPr>
          <p:cNvSpPr>
            <a:spLocks noChangeAspect="1"/>
          </p:cNvSpPr>
          <p:nvPr/>
        </p:nvSpPr>
        <p:spPr>
          <a:xfrm>
            <a:off x="4589220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5F00A-B222-964A-E66E-F944A813EABE}"/>
              </a:ext>
            </a:extLst>
          </p:cNvPr>
          <p:cNvSpPr txBox="1"/>
          <p:nvPr/>
        </p:nvSpPr>
        <p:spPr>
          <a:xfrm>
            <a:off x="4529077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F948DC-1936-5800-FD1F-FF3D99AD14DA}"/>
              </a:ext>
            </a:extLst>
          </p:cNvPr>
          <p:cNvSpPr>
            <a:spLocks noChangeAspect="1"/>
          </p:cNvSpPr>
          <p:nvPr/>
        </p:nvSpPr>
        <p:spPr>
          <a:xfrm>
            <a:off x="4589220" y="2222461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F63D6B-ADD4-A41F-2069-CCCDC59DBCE7}"/>
              </a:ext>
            </a:extLst>
          </p:cNvPr>
          <p:cNvSpPr txBox="1"/>
          <p:nvPr/>
        </p:nvSpPr>
        <p:spPr>
          <a:xfrm>
            <a:off x="4529077" y="235865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1F41C5-4E6B-467A-8549-F66359B286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1101" y="734103"/>
            <a:ext cx="4739792" cy="2551514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BA75F102-8A1A-4E45-9C19-6319BB5EB761}"/>
              </a:ext>
            </a:extLst>
          </p:cNvPr>
          <p:cNvSpPr txBox="1"/>
          <p:nvPr/>
        </p:nvSpPr>
        <p:spPr>
          <a:xfrm>
            <a:off x="4067055" y="42011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PO.Z1</a:t>
            </a:r>
            <a:endParaRPr lang="en-JP" sz="1200" b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556D387-76A0-447B-8F79-1555F2C5BB68}"/>
              </a:ext>
            </a:extLst>
          </p:cNvPr>
          <p:cNvSpPr txBox="1"/>
          <p:nvPr/>
        </p:nvSpPr>
        <p:spPr>
          <a:xfrm>
            <a:off x="4067055" y="528475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PO.Z2</a:t>
            </a:r>
            <a:endParaRPr lang="en-JP" sz="1200" b="1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2625333-1E96-4C57-A348-00995067145F}"/>
              </a:ext>
            </a:extLst>
          </p:cNvPr>
          <p:cNvSpPr txBox="1"/>
          <p:nvPr/>
        </p:nvSpPr>
        <p:spPr>
          <a:xfrm>
            <a:off x="6041382" y="16347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PO.Z3</a:t>
            </a:r>
            <a:endParaRPr lang="en-JP" sz="1200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4224A9-A995-485B-8D65-31043FE1D9AD}"/>
              </a:ext>
            </a:extLst>
          </p:cNvPr>
          <p:cNvSpPr txBox="1"/>
          <p:nvPr/>
        </p:nvSpPr>
        <p:spPr>
          <a:xfrm>
            <a:off x="4548705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WN.Z3</a:t>
            </a:r>
            <a:endParaRPr lang="en-JP" sz="1200" b="1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B3E261E-F36E-4DB0-9F63-99094345585A}"/>
              </a:ext>
            </a:extLst>
          </p:cNvPr>
          <p:cNvCxnSpPr/>
          <p:nvPr/>
        </p:nvCxnSpPr>
        <p:spPr>
          <a:xfrm>
            <a:off x="2900971" y="2222461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45A359E-AAE3-4355-A034-48E23EE56BD4}"/>
              </a:ext>
            </a:extLst>
          </p:cNvPr>
          <p:cNvCxnSpPr>
            <a:cxnSpLocks/>
          </p:cNvCxnSpPr>
          <p:nvPr/>
        </p:nvCxnSpPr>
        <p:spPr>
          <a:xfrm flipV="1">
            <a:off x="2900971" y="2242345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7A294D4B-8C92-45DB-9A6C-E6EE770FBFF7}"/>
              </a:ext>
            </a:extLst>
          </p:cNvPr>
          <p:cNvSpPr txBox="1"/>
          <p:nvPr/>
        </p:nvSpPr>
        <p:spPr>
          <a:xfrm>
            <a:off x="2894935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WN.Z2</a:t>
            </a:r>
            <a:endParaRPr lang="en-JP" sz="1200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8A22ED2-4E2D-4EE7-B838-9D9E6C4332AF}"/>
              </a:ext>
            </a:extLst>
          </p:cNvPr>
          <p:cNvSpPr txBox="1"/>
          <p:nvPr/>
        </p:nvSpPr>
        <p:spPr>
          <a:xfrm>
            <a:off x="1169186" y="28238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WN.Z1</a:t>
            </a:r>
            <a:endParaRPr lang="en-JP" sz="1200" b="1" dirty="0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4D0DC65-E59E-47CE-8448-BE1008C9F96B}"/>
              </a:ext>
            </a:extLst>
          </p:cNvPr>
          <p:cNvCxnSpPr/>
          <p:nvPr/>
        </p:nvCxnSpPr>
        <p:spPr>
          <a:xfrm>
            <a:off x="4589220" y="2222460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4B278F1-FA70-4DC6-8612-91BA0187DB04}"/>
              </a:ext>
            </a:extLst>
          </p:cNvPr>
          <p:cNvCxnSpPr>
            <a:cxnSpLocks/>
          </p:cNvCxnSpPr>
          <p:nvPr/>
        </p:nvCxnSpPr>
        <p:spPr>
          <a:xfrm flipV="1">
            <a:off x="4589220" y="2242344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4E5C958-E37A-4076-9669-B81B387FC958}"/>
              </a:ext>
            </a:extLst>
          </p:cNvPr>
          <p:cNvCxnSpPr/>
          <p:nvPr/>
        </p:nvCxnSpPr>
        <p:spPr>
          <a:xfrm>
            <a:off x="1202275" y="2228847"/>
            <a:ext cx="540000" cy="54000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193231C1-95A9-40F0-9826-98B347CB0B6D}"/>
              </a:ext>
            </a:extLst>
          </p:cNvPr>
          <p:cNvCxnSpPr>
            <a:cxnSpLocks/>
          </p:cNvCxnSpPr>
          <p:nvPr/>
        </p:nvCxnSpPr>
        <p:spPr>
          <a:xfrm flipV="1">
            <a:off x="1202275" y="2248731"/>
            <a:ext cx="540000" cy="520116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4F004FD-7042-452C-B605-0989190BFE77}"/>
              </a:ext>
            </a:extLst>
          </p:cNvPr>
          <p:cNvSpPr txBox="1"/>
          <p:nvPr/>
        </p:nvSpPr>
        <p:spPr>
          <a:xfrm>
            <a:off x="2539425" y="42011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V1.Z1</a:t>
            </a:r>
            <a:endParaRPr lang="en-JP" sz="12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A9996ED-EE4F-402D-9EBD-E92AD8F65160}"/>
              </a:ext>
            </a:extLst>
          </p:cNvPr>
          <p:cNvSpPr txBox="1"/>
          <p:nvPr/>
        </p:nvSpPr>
        <p:spPr>
          <a:xfrm>
            <a:off x="2539425" y="528475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V1.Z2</a:t>
            </a:r>
            <a:endParaRPr lang="en-JP" sz="1200" b="1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4C530F7-B839-4ABC-8BDF-1ADAB1404016}"/>
              </a:ext>
            </a:extLst>
          </p:cNvPr>
          <p:cNvSpPr txBox="1"/>
          <p:nvPr/>
        </p:nvSpPr>
        <p:spPr>
          <a:xfrm>
            <a:off x="695603" y="42040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CO.Z1</a:t>
            </a:r>
            <a:endParaRPr lang="en-JP" sz="1200" b="1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0A6CB72-7A4E-4C49-AC30-919BF20D23D9}"/>
              </a:ext>
            </a:extLst>
          </p:cNvPr>
          <p:cNvSpPr txBox="1"/>
          <p:nvPr/>
        </p:nvSpPr>
        <p:spPr>
          <a:xfrm>
            <a:off x="695603" y="530099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/>
              <a:t>CO.Z3</a:t>
            </a:r>
            <a:endParaRPr lang="en-JP" sz="1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755E66-5674-4567-A210-CABCA987A1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1102" y="3338284"/>
            <a:ext cx="3786966" cy="2709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005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170368" y="3492175"/>
            <a:ext cx="525666" cy="4924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7956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Cat-2: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680887" y="5248327"/>
            <a:ext cx="4116711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AR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AC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in WN(C)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A98CAAF-D3BC-4D47-93AA-AB306E68FCFA}"/>
              </a:ext>
            </a:extLst>
          </p:cNvPr>
          <p:cNvSpPr txBox="1"/>
          <p:nvPr/>
        </p:nvSpPr>
        <p:spPr>
          <a:xfrm>
            <a:off x="4339650" y="41901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5244021-34F4-46B3-B4A6-669E778381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3145" y="598771"/>
            <a:ext cx="4477506" cy="4586305"/>
          </a:xfrm>
          <a:prstGeom prst="rect">
            <a:avLst/>
          </a:prstGeom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03B2353D-D235-4519-AD91-F0B59424E4F0}"/>
              </a:ext>
            </a:extLst>
          </p:cNvPr>
          <p:cNvSpPr txBox="1"/>
          <p:nvPr/>
        </p:nvSpPr>
        <p:spPr>
          <a:xfrm>
            <a:off x="3951867" y="3635016"/>
            <a:ext cx="4824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G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ECF26074-ACE4-4DCC-8422-D6684F31B057}"/>
              </a:ext>
            </a:extLst>
          </p:cNvPr>
          <p:cNvSpPr txBox="1"/>
          <p:nvPr/>
        </p:nvSpPr>
        <p:spPr>
          <a:xfrm>
            <a:off x="3101334" y="5462935"/>
            <a:ext cx="125803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AC.R1(Donut)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5909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Cat-3: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399602" y="5093092"/>
            <a:ext cx="4396715" cy="138499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AP&amp;GC-ESD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AN&amp;GC-ESD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DP/AP(D)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not interacting(GC) inside 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DN/AN(D)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not interacting(GC) outside WN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：AN-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：AP-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–(WN covering AC)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0EF09B6A-AEE5-4F9B-9E95-1D663B877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3542" y="533980"/>
            <a:ext cx="4450957" cy="4559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4181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5916143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52987" y="2551455"/>
            <a:ext cx="102564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/CO.WB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80382" y="2043433"/>
            <a:ext cx="102084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8086" y="1559444"/>
            <a:ext cx="103446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/CO.WM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597056" y="2225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661894" y="5033806"/>
            <a:ext cx="104144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/CO.WB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7925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643" y="49314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8904" y="4605728"/>
            <a:ext cx="104380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365539" y="493812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348698" y="4289739"/>
            <a:ext cx="101940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/CO.WM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88804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48653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Cat-4: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 rot="16200000">
            <a:off x="3381496" y="2478817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6818278" y="4884883"/>
            <a:ext cx="3255180" cy="156966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AP&amp;GC-ESD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AN&amp;GC-ESD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AP(D)：AP not interacting 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AN(D)：AN not interacting 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CO(M)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PMOS/NMOS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CO(B)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BG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CO(Area&gt;=1.5um</a:t>
            </a:r>
            <a:r>
              <a:rPr lang="en-US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09D2F0-0C67-4B4C-DADA-5C8ACF9304AB}"/>
              </a:ext>
            </a:extLst>
          </p:cNvPr>
          <p:cNvSpPr txBox="1"/>
          <p:nvPr/>
        </p:nvSpPr>
        <p:spPr>
          <a:xfrm rot="16200000">
            <a:off x="3390585" y="4882691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8023F0A-FE4D-4EE7-BF24-85123B0C4B7E}"/>
              </a:ext>
            </a:extLst>
          </p:cNvPr>
          <p:cNvSpPr txBox="1"/>
          <p:nvPr/>
        </p:nvSpPr>
        <p:spPr>
          <a:xfrm>
            <a:off x="10073458" y="4856800"/>
            <a:ext cx="2071697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GP：AN&amp;WN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GN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AP-WN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WC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BG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(GP+GN)-WC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F3498933-6A87-4A68-BA68-300AF3AE2BE6}"/>
              </a:ext>
            </a:extLst>
          </p:cNvPr>
          <p:cNvCxnSpPr>
            <a:cxnSpLocks/>
          </p:cNvCxnSpPr>
          <p:nvPr/>
        </p:nvCxnSpPr>
        <p:spPr>
          <a:xfrm>
            <a:off x="4240030" y="2505452"/>
            <a:ext cx="0" cy="31634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AF85FC4F-E104-4A3F-92F5-E79EF0F1B5AE}"/>
              </a:ext>
            </a:extLst>
          </p:cNvPr>
          <p:cNvSpPr txBox="1"/>
          <p:nvPr/>
        </p:nvSpPr>
        <p:spPr>
          <a:xfrm>
            <a:off x="4248296" y="2595230"/>
            <a:ext cx="1076164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CO.AP/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DA2353F-3D3A-4CED-AE85-154246D29174}"/>
              </a:ext>
            </a:extLst>
          </p:cNvPr>
          <p:cNvCxnSpPr>
            <a:cxnSpLocks/>
          </p:cNvCxnSpPr>
          <p:nvPr/>
        </p:nvCxnSpPr>
        <p:spPr>
          <a:xfrm>
            <a:off x="4240030" y="3996620"/>
            <a:ext cx="0" cy="28805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07147CD2-6750-460D-8C4F-F06DD7F37AD5}"/>
              </a:ext>
            </a:extLst>
          </p:cNvPr>
          <p:cNvSpPr txBox="1"/>
          <p:nvPr/>
        </p:nvSpPr>
        <p:spPr>
          <a:xfrm>
            <a:off x="4322929" y="4002978"/>
            <a:ext cx="1023846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O.AN/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CO.SM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95E36AF-7809-4F8F-9F9A-8D4BF9CA949B}"/>
              </a:ext>
            </a:extLst>
          </p:cNvPr>
          <p:cNvSpPr/>
          <p:nvPr/>
        </p:nvSpPr>
        <p:spPr>
          <a:xfrm>
            <a:off x="1798212" y="3497116"/>
            <a:ext cx="284298" cy="3004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187E0FE-98E6-4281-A70C-6683F2BEFCF8}"/>
              </a:ext>
            </a:extLst>
          </p:cNvPr>
          <p:cNvSpPr txBox="1"/>
          <p:nvPr/>
        </p:nvSpPr>
        <p:spPr>
          <a:xfrm>
            <a:off x="1267379" y="35539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CO(L)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7CDD3E8-20EB-4455-AAD6-7EEEC9CB195C}"/>
              </a:ext>
            </a:extLst>
          </p:cNvPr>
          <p:cNvSpPr txBox="1"/>
          <p:nvPr/>
        </p:nvSpPr>
        <p:spPr>
          <a:xfrm flipH="1">
            <a:off x="1844837" y="3473124"/>
            <a:ext cx="274098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ja-JP" alt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✕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75B16582-4E93-4457-8DAF-6714198177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3146" y="558460"/>
            <a:ext cx="4458362" cy="4350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905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78309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01981" y="154936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2825016" y="50112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21882" y="48786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870075" y="1556724"/>
            <a:ext cx="2898925" cy="865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19553" y="1646513"/>
            <a:ext cx="2898925" cy="6791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304708" y="612285"/>
            <a:ext cx="6688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(R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S</a:t>
            </a:r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4886801" y="1666306"/>
            <a:ext cx="8724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492301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52274" y="1666306"/>
            <a:ext cx="69439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782003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(R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S</a:t>
            </a:r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Cat-5: Resistor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(AR/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GR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480773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3283" y="4391891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922748" y="37125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6209200" y="432237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196575" y="43918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751904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2999233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468166" y="216792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1505895"/>
            <a:ext cx="378893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2268290"/>
            <a:ext cx="3785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  <a:stCxn id="76" idx="0"/>
            <a:endCxn id="71" idx="2"/>
          </p:cNvCxnSpPr>
          <p:nvPr/>
        </p:nvCxnSpPr>
        <p:spPr>
          <a:xfrm flipV="1">
            <a:off x="2032338" y="1721795"/>
            <a:ext cx="197" cy="5464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  <a:stCxn id="89" idx="1"/>
            <a:endCxn id="89" idx="3"/>
          </p:cNvCxnSpPr>
          <p:nvPr/>
        </p:nvCxnSpPr>
        <p:spPr>
          <a:xfrm>
            <a:off x="4783707" y="5341668"/>
            <a:ext cx="144676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4886801" y="966361"/>
            <a:ext cx="872447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5" y="1723495"/>
            <a:ext cx="1056131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83707" y="4685204"/>
            <a:ext cx="1446767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502180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O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4651180" y="6137578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215177" y="5513851"/>
            <a:ext cx="2324229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RR(W)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Width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RR(L)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Length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W=2.8,4,6,12,20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：GC in WN(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W=4,6,12,20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WC  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interacting AC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AR(T)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 top fringe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2A576D6-F178-42CA-85F7-0F7ED0180DEB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6875740" y="851773"/>
            <a:ext cx="232134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75934F88-9753-4E99-8848-70645F7FED83}"/>
              </a:ext>
            </a:extLst>
          </p:cNvPr>
          <p:cNvSpPr txBox="1"/>
          <p:nvPr/>
        </p:nvSpPr>
        <p:spPr>
          <a:xfrm>
            <a:off x="7058272" y="8385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4107F93-3718-49BC-B297-822A1B8F7319}"/>
              </a:ext>
            </a:extLst>
          </p:cNvPr>
          <p:cNvCxnSpPr>
            <a:cxnSpLocks/>
            <a:stCxn id="46" idx="3"/>
            <a:endCxn id="17" idx="0"/>
          </p:cNvCxnSpPr>
          <p:nvPr/>
        </p:nvCxnSpPr>
        <p:spPr>
          <a:xfrm>
            <a:off x="6769016" y="536626"/>
            <a:ext cx="5124" cy="2071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57521C80-023C-40F7-8BFC-C24E8EDD681B}"/>
              </a:ext>
            </a:extLst>
          </p:cNvPr>
          <p:cNvSpPr txBox="1"/>
          <p:nvPr/>
        </p:nvSpPr>
        <p:spPr>
          <a:xfrm>
            <a:off x="6858965" y="53678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CO.GR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19783C4-5947-477C-8DBA-2C20E7E9B0F7}"/>
              </a:ext>
            </a:extLst>
          </p:cNvPr>
          <p:cNvSpPr txBox="1"/>
          <p:nvPr/>
        </p:nvSpPr>
        <p:spPr>
          <a:xfrm>
            <a:off x="5360576" y="52796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E4BE648E-5836-40D6-9170-2F77A252C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749707"/>
            <a:ext cx="203200" cy="215900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E94BC60B-D9D2-488B-8685-0DDF90232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2997036"/>
            <a:ext cx="203200" cy="215900"/>
          </a:xfrm>
          <a:prstGeom prst="rect">
            <a:avLst/>
          </a:prstGeom>
        </p:spPr>
      </p:pic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423A342-A7F3-486A-875D-5EDCC084016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>
            <a:off x="5515612" y="965607"/>
            <a:ext cx="0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1B5AA609-35F7-48AA-98C4-8854566316A0}"/>
              </a:ext>
            </a:extLst>
          </p:cNvPr>
          <p:cNvCxnSpPr>
            <a:cxnSpLocks/>
            <a:stCxn id="108" idx="1"/>
            <a:endCxn id="108" idx="3"/>
          </p:cNvCxnSpPr>
          <p:nvPr/>
        </p:nvCxnSpPr>
        <p:spPr>
          <a:xfrm>
            <a:off x="5414012" y="857657"/>
            <a:ext cx="20320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3EBB022-C090-4050-8A9D-BCA69330456D}"/>
              </a:ext>
            </a:extLst>
          </p:cNvPr>
          <p:cNvCxnSpPr>
            <a:cxnSpLocks/>
            <a:stCxn id="16" idx="3"/>
            <a:endCxn id="108" idx="1"/>
          </p:cNvCxnSpPr>
          <p:nvPr/>
        </p:nvCxnSpPr>
        <p:spPr>
          <a:xfrm flipV="1">
            <a:off x="5252827" y="857657"/>
            <a:ext cx="161185" cy="21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180C1BFE-B655-49F4-94DC-BA160FACD936}"/>
              </a:ext>
            </a:extLst>
          </p:cNvPr>
          <p:cNvSpPr txBox="1"/>
          <p:nvPr/>
        </p:nvSpPr>
        <p:spPr>
          <a:xfrm>
            <a:off x="4955745" y="95884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E931651-EC46-4B05-9CF3-F831BD71A1C2}"/>
              </a:ext>
            </a:extLst>
          </p:cNvPr>
          <p:cNvCxnSpPr>
            <a:cxnSpLocks/>
          </p:cNvCxnSpPr>
          <p:nvPr/>
        </p:nvCxnSpPr>
        <p:spPr>
          <a:xfrm>
            <a:off x="4908392" y="4005959"/>
            <a:ext cx="307315" cy="35426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F48202E2-FEC8-4C06-91D2-01E8DE439BDC}"/>
              </a:ext>
            </a:extLst>
          </p:cNvPr>
          <p:cNvSpPr txBox="1"/>
          <p:nvPr/>
        </p:nvSpPr>
        <p:spPr>
          <a:xfrm>
            <a:off x="4359135" y="3842516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CR.AR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17F8D07-EDBC-4885-AB16-6D68FA120459}"/>
              </a:ext>
            </a:extLst>
          </p:cNvPr>
          <p:cNvSpPr txBox="1"/>
          <p:nvPr/>
        </p:nvSpPr>
        <p:spPr>
          <a:xfrm>
            <a:off x="3726089" y="491790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EC260D51-BDB3-4AC1-BDD5-D260A9E60B58}"/>
              </a:ext>
            </a:extLst>
          </p:cNvPr>
          <p:cNvCxnSpPr>
            <a:cxnSpLocks/>
            <a:stCxn id="5" idx="3"/>
            <a:endCxn id="5" idx="1"/>
          </p:cNvCxnSpPr>
          <p:nvPr/>
        </p:nvCxnSpPr>
        <p:spPr>
          <a:xfrm flipH="1">
            <a:off x="1481931" y="1989469"/>
            <a:ext cx="10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489650" y="20382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E556DB2-98C3-46BE-8FCF-1BE09AF7D411}"/>
              </a:ext>
            </a:extLst>
          </p:cNvPr>
          <p:cNvSpPr txBox="1"/>
          <p:nvPr/>
        </p:nvSpPr>
        <p:spPr>
          <a:xfrm>
            <a:off x="1474957" y="18089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16C55B81-D7B0-4199-9EDC-E4FD52F237A0}"/>
              </a:ext>
            </a:extLst>
          </p:cNvPr>
          <p:cNvSpPr txBox="1"/>
          <p:nvPr/>
        </p:nvSpPr>
        <p:spPr>
          <a:xfrm>
            <a:off x="9539406" y="5519498"/>
            <a:ext cx="2652594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AR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(RR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(W&gt;=4.0)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CO(RRN)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AR(W=2.8)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 ：AR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side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fringe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(W=2.8)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ARW(S)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 side fringe (W&gt;=4.0)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WC</a:t>
            </a: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GR(S)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 side fringe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CO(RSM)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CO(sized) &amp; GR(S)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9964BAE7-F02C-44EF-8A47-63D55F77379E}"/>
              </a:ext>
            </a:extLst>
          </p:cNvPr>
          <p:cNvSpPr txBox="1"/>
          <p:nvPr/>
        </p:nvSpPr>
        <p:spPr>
          <a:xfrm>
            <a:off x="5205097" y="4517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CR.W3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C602090-E10A-48F4-ACE7-C404BF136294}"/>
              </a:ext>
            </a:extLst>
          </p:cNvPr>
          <p:cNvSpPr txBox="1"/>
          <p:nvPr/>
        </p:nvSpPr>
        <p:spPr>
          <a:xfrm>
            <a:off x="6207551" y="44751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875EC5E4-7E0B-49E9-857F-2A2A4A661569}"/>
              </a:ext>
            </a:extLst>
          </p:cNvPr>
          <p:cNvSpPr txBox="1"/>
          <p:nvPr/>
        </p:nvSpPr>
        <p:spPr>
          <a:xfrm>
            <a:off x="3723435" y="50776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F15911A-BCE7-444A-A292-F6301374E57B}"/>
              </a:ext>
            </a:extLst>
          </p:cNvPr>
          <p:cNvSpPr txBox="1"/>
          <p:nvPr/>
        </p:nvSpPr>
        <p:spPr>
          <a:xfrm>
            <a:off x="81547" y="6626168"/>
            <a:ext cx="47231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</a:t>
            </a:r>
            <a:r>
              <a:rPr lang="en-US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Strike-through rules are n</a:t>
            </a:r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ot yet implemented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6341E73-0621-4617-9895-BEE3C3DA6F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6743" y="93506"/>
            <a:ext cx="3523236" cy="5465956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4197C793-E9E2-4F3C-8A1E-C1D91DE1B7AA}"/>
              </a:ext>
            </a:extLst>
          </p:cNvPr>
          <p:cNvSpPr txBox="1"/>
          <p:nvPr/>
        </p:nvSpPr>
        <p:spPr>
          <a:xfrm>
            <a:off x="623284" y="1716617"/>
            <a:ext cx="687103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GC_R1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(Donut)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83B3640-464D-46BE-AB6C-83A2FDCEDD73}"/>
              </a:ext>
            </a:extLst>
          </p:cNvPr>
          <p:cNvSpPr/>
          <p:nvPr/>
        </p:nvSpPr>
        <p:spPr>
          <a:xfrm>
            <a:off x="1809662" y="2979469"/>
            <a:ext cx="349338" cy="3493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3" name="Picture 112">
            <a:extLst>
              <a:ext uri="{FF2B5EF4-FFF2-40B4-BE49-F238E27FC236}">
                <a16:creationId xmlns:a16="http://schemas.microsoft.com/office/drawing/2014/main" id="{B532A500-8464-4AB7-A823-0240C5C18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4624" y="3073976"/>
            <a:ext cx="137681" cy="146286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E65C17B1-60CE-4264-9758-AB11523785BC}"/>
              </a:ext>
            </a:extLst>
          </p:cNvPr>
          <p:cNvSpPr txBox="1"/>
          <p:nvPr/>
        </p:nvSpPr>
        <p:spPr>
          <a:xfrm>
            <a:off x="2535994" y="3042179"/>
            <a:ext cx="865473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GC.R2</a:t>
            </a:r>
          </a:p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TieDown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63F7E6B-698E-4247-B409-7AA6F15867D8}"/>
              </a:ext>
            </a:extLst>
          </p:cNvPr>
          <p:cNvSpPr/>
          <p:nvPr/>
        </p:nvSpPr>
        <p:spPr>
          <a:xfrm>
            <a:off x="2265920" y="3088836"/>
            <a:ext cx="274604" cy="25202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pic>
        <p:nvPicPr>
          <p:cNvPr id="117" name="Picture 116">
            <a:extLst>
              <a:ext uri="{FF2B5EF4-FFF2-40B4-BE49-F238E27FC236}">
                <a16:creationId xmlns:a16="http://schemas.microsoft.com/office/drawing/2014/main" id="{C18C60DC-37A8-4526-9C9F-4D65F578D3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3140" y="3139793"/>
            <a:ext cx="137681" cy="146286"/>
          </a:xfrm>
          <a:prstGeom prst="rect">
            <a:avLst/>
          </a:prstGeom>
        </p:spPr>
      </p:pic>
      <p:sp>
        <p:nvSpPr>
          <p:cNvPr id="118" name="Rectangle 117">
            <a:extLst>
              <a:ext uri="{FF2B5EF4-FFF2-40B4-BE49-F238E27FC236}">
                <a16:creationId xmlns:a16="http://schemas.microsoft.com/office/drawing/2014/main" id="{A7745D11-6B0C-449D-8996-590F7FBF8EFB}"/>
              </a:ext>
            </a:extLst>
          </p:cNvPr>
          <p:cNvSpPr/>
          <p:nvPr/>
        </p:nvSpPr>
        <p:spPr>
          <a:xfrm rot="16200000">
            <a:off x="2022424" y="2825996"/>
            <a:ext cx="323476" cy="682146"/>
          </a:xfrm>
          <a:prstGeom prst="rect">
            <a:avLst/>
          </a:prstGeom>
          <a:solidFill>
            <a:srgbClr val="D1D1D1">
              <a:alpha val="38824"/>
            </a:srgbClr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86F83DF8-08A7-4992-8A6A-9797BA16E5FB}"/>
              </a:ext>
            </a:extLst>
          </p:cNvPr>
          <p:cNvSpPr txBox="1"/>
          <p:nvPr/>
        </p:nvSpPr>
        <p:spPr>
          <a:xfrm>
            <a:off x="2004715" y="3292167"/>
            <a:ext cx="34933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M1</a:t>
            </a:r>
            <a:endParaRPr lang="en-JP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58EEAEA-CBA8-4EFA-8895-61F93E938068}"/>
              </a:ext>
            </a:extLst>
          </p:cNvPr>
          <p:cNvSpPr txBox="1"/>
          <p:nvPr/>
        </p:nvSpPr>
        <p:spPr>
          <a:xfrm>
            <a:off x="5004741" y="5819126"/>
            <a:ext cx="108851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RR.SZ/RR.RT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56333CC-E1F7-40F6-B59B-24AC9E07D882}"/>
              </a:ext>
            </a:extLst>
          </p:cNvPr>
          <p:cNvSpPr txBox="1"/>
          <p:nvPr/>
        </p:nvSpPr>
        <p:spPr>
          <a:xfrm>
            <a:off x="6786908" y="2216944"/>
            <a:ext cx="108851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RS.SZ/RS.RT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27289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5781209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016584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224319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554550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594300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597446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540760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594300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678700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684300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643539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693816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429412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982835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194299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143937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683540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699652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286691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144645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144645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167059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491784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4971345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4836677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4921642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623059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695073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335507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171230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703815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366341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319668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630110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139668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139668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144645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004331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059675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519649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656984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324645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630110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656984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634202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219768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195141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350831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396707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522907" y="333151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M1.SW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Cat-6: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567176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742654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578377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564680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834680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014680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459269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164500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866096" y="4588034"/>
            <a:ext cx="36216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631149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629434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1803842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663907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713326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155098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353128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524819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360542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326681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1(C)</a:t>
            </a:r>
            <a:endParaRPr lang="en-JP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304964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295392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357842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330220" y="5158784"/>
            <a:ext cx="4242876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：Wide M1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(W&gt;=10.0)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interacting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(AN &amp;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M1(C) (W=1.2um)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AC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(W=1.2um)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large contact (Area&gt;=1.5um</a:t>
            </a:r>
            <a:r>
              <a:rPr lang="en-US" altLang="ja-JP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6166AA0-1859-4FF7-BB1D-58CA2CFBA3FB}"/>
              </a:ext>
            </a:extLst>
          </p:cNvPr>
          <p:cNvSpPr/>
          <p:nvPr/>
        </p:nvSpPr>
        <p:spPr>
          <a:xfrm>
            <a:off x="2320123" y="50257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B8E94CD-E408-4B84-A3CA-3803A527D1F3}"/>
              </a:ext>
            </a:extLst>
          </p:cNvPr>
          <p:cNvCxnSpPr>
            <a:cxnSpLocks/>
          </p:cNvCxnSpPr>
          <p:nvPr/>
        </p:nvCxnSpPr>
        <p:spPr>
          <a:xfrm>
            <a:off x="2340053" y="4929930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DCFEF87-DE7A-447E-B13B-FAC4172BDF20}"/>
              </a:ext>
            </a:extLst>
          </p:cNvPr>
          <p:cNvCxnSpPr>
            <a:cxnSpLocks/>
          </p:cNvCxnSpPr>
          <p:nvPr/>
        </p:nvCxnSpPr>
        <p:spPr>
          <a:xfrm flipH="1">
            <a:off x="2544680" y="4929930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D800CD8-615F-46B7-8693-8D47F2C040BD}"/>
              </a:ext>
            </a:extLst>
          </p:cNvPr>
          <p:cNvCxnSpPr>
            <a:endCxn id="78" idx="3"/>
          </p:cNvCxnSpPr>
          <p:nvPr/>
        </p:nvCxnSpPr>
        <p:spPr>
          <a:xfrm>
            <a:off x="2500123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0F1F0D8-27F7-43BB-B458-D99C4EFAB52D}"/>
              </a:ext>
            </a:extLst>
          </p:cNvPr>
          <p:cNvCxnSpPr/>
          <p:nvPr/>
        </p:nvCxnSpPr>
        <p:spPr>
          <a:xfrm>
            <a:off x="2546022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549B20C6-8397-469A-9B70-65F3BAC0321A}"/>
              </a:ext>
            </a:extLst>
          </p:cNvPr>
          <p:cNvSpPr txBox="1"/>
          <p:nvPr/>
        </p:nvSpPr>
        <p:spPr>
          <a:xfrm>
            <a:off x="2387280" y="5040144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685852A7-D7B6-48C1-8C83-AC85134BFC35}"/>
              </a:ext>
            </a:extLst>
          </p:cNvPr>
          <p:cNvCxnSpPr>
            <a:cxnSpLocks/>
          </p:cNvCxnSpPr>
          <p:nvPr/>
        </p:nvCxnSpPr>
        <p:spPr>
          <a:xfrm>
            <a:off x="6677064" y="6114182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ECA3FF95-253F-4898-820C-9FAF2AB1F4C1}"/>
              </a:ext>
            </a:extLst>
          </p:cNvPr>
          <p:cNvCxnSpPr>
            <a:cxnSpLocks/>
          </p:cNvCxnSpPr>
          <p:nvPr/>
        </p:nvCxnSpPr>
        <p:spPr>
          <a:xfrm flipH="1">
            <a:off x="7007898" y="6114182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53F9D6F-285D-48F4-95BE-1194E484F778}"/>
              </a:ext>
            </a:extLst>
          </p:cNvPr>
          <p:cNvCxnSpPr/>
          <p:nvPr/>
        </p:nvCxnSpPr>
        <p:spPr>
          <a:xfrm>
            <a:off x="6837134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CD55970C-CDA9-40FB-8B6B-63A2A2F9E1A6}"/>
              </a:ext>
            </a:extLst>
          </p:cNvPr>
          <p:cNvCxnSpPr/>
          <p:nvPr/>
        </p:nvCxnSpPr>
        <p:spPr>
          <a:xfrm>
            <a:off x="7009240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5153D36-6FC2-4C2E-8EA5-2B66307366B7}"/>
              </a:ext>
            </a:extLst>
          </p:cNvPr>
          <p:cNvSpPr txBox="1"/>
          <p:nvPr/>
        </p:nvSpPr>
        <p:spPr>
          <a:xfrm>
            <a:off x="6638939" y="62499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E8D8CAA-F2BE-4966-92E6-DCF6BA6C4413}"/>
              </a:ext>
            </a:extLst>
          </p:cNvPr>
          <p:cNvSpPr txBox="1"/>
          <p:nvPr/>
        </p:nvSpPr>
        <p:spPr>
          <a:xfrm>
            <a:off x="2376887" y="46473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FF95A57-0EA6-487F-B98F-6C582FC539C8}"/>
              </a:ext>
            </a:extLst>
          </p:cNvPr>
          <p:cNvSpPr txBox="1"/>
          <p:nvPr/>
        </p:nvSpPr>
        <p:spPr>
          <a:xfrm>
            <a:off x="7259969" y="6512237"/>
            <a:ext cx="47231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</a:t>
            </a:r>
            <a:r>
              <a:rPr lang="en-US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Strike-through rules are n</a:t>
            </a:r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ot yet implemented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E9F44DE-E628-49FF-95E5-E079518984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1970" y="855362"/>
            <a:ext cx="4801952" cy="4218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434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221098" y="4038819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221097" y="1221923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177006" y="616914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727829" y="1214018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407763" y="983092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734476" y="4106418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177006" y="743601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089580" y="994135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736665" y="54281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371203" y="2546729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374076" y="442919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474811" y="42218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3596813" y="324327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3628971" y="332459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720718" y="126199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498048" y="232475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8161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Cat-7: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2623887" y="2511250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135706" y="138024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3743993" y="430016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449438" y="240236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449438" y="184825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200199" y="193064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450179" y="193356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2537033" y="204762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2557036" y="20428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2514676" y="16463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2673445" y="254092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417880" y="163489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3789182" y="1222610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3776792" y="1807289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3743993" y="4019663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2630891" y="5234914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456442" y="512603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456442" y="4571918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457183" y="465722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2544037" y="4771288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2583302" y="47667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2630781" y="45500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2668712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1743528" y="1960234"/>
            <a:ext cx="689372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221097" y="4664937"/>
            <a:ext cx="2199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1776330" y="4694522"/>
            <a:ext cx="67310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COE.A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NT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301653" y="513357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301653" y="4579465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3610745" y="5223577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026523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194521" y="53644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417880" y="5576942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301512" y="238517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301512" y="183106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3609506" y="2494694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034337" y="2548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95459" y="533616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151195" y="585641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457312" y="4038275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5680190" y="4038275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5676256" y="40196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5527376" y="38284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478702" y="1229600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5701580" y="1229600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5697646" y="1210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5548766" y="10197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6667" y="3395950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4655367" y="2910843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4647553" y="3575145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4647553" y="30128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4655367" y="381495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361727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4913242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361727" y="548665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4913242" y="548665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6997892" y="5126030"/>
            <a:ext cx="3675398" cy="156966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MPE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interacting(GC) &amp; WN &amp; ESD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MNE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interacting(GC) - WN &amp; ESD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PMOSE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MPE &amp; 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NMOSE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MNE &amp; 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MPE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ANE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MNE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altLang="ja-JP" sz="1200" b="1" dirty="0">
                <a:solidFill>
                  <a:srgbClr val="FF0000"/>
                </a:solidFill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AP(T)  </a:t>
            </a:r>
            <a:r>
              <a:rPr lang="en-JP" altLang="ja-JP" sz="1200" b="1" dirty="0">
                <a:solidFill>
                  <a:srgbClr val="FF0000"/>
                </a:solidFill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b="1" dirty="0">
                <a:solidFill>
                  <a:srgbClr val="FF0000"/>
                </a:solidFill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Side Edges</a:t>
            </a:r>
          </a:p>
          <a:p>
            <a:r>
              <a:rPr lang="en-US" altLang="ja-JP" sz="1200" b="1" dirty="0">
                <a:solidFill>
                  <a:srgbClr val="FF0000"/>
                </a:solidFill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AN(T)  </a:t>
            </a:r>
            <a:r>
              <a:rPr lang="en-JP" altLang="ja-JP" sz="1200" b="1" dirty="0">
                <a:solidFill>
                  <a:srgbClr val="FF0000"/>
                </a:solidFill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b="1" dirty="0">
                <a:solidFill>
                  <a:srgbClr val="FF0000"/>
                </a:solidFill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Side Edges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83F0C9A-B6DF-413F-8D9E-FCF396021060}"/>
              </a:ext>
            </a:extLst>
          </p:cNvPr>
          <p:cNvSpPr txBox="1"/>
          <p:nvPr/>
        </p:nvSpPr>
        <p:spPr>
          <a:xfrm>
            <a:off x="2555935" y="22221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COE.S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205A2E2-7E8E-4440-9827-E13121615A3E}"/>
              </a:ext>
            </a:extLst>
          </p:cNvPr>
          <p:cNvSpPr txBox="1"/>
          <p:nvPr/>
        </p:nvSpPr>
        <p:spPr>
          <a:xfrm>
            <a:off x="2590388" y="492883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COE.S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FE4814D3-3683-4442-81FE-90784062F598}"/>
              </a:ext>
            </a:extLst>
          </p:cNvPr>
          <p:cNvCxnSpPr>
            <a:cxnSpLocks/>
            <a:endCxn id="69" idx="0"/>
          </p:cNvCxnSpPr>
          <p:nvPr/>
        </p:nvCxnSpPr>
        <p:spPr>
          <a:xfrm flipH="1">
            <a:off x="2546442" y="4038275"/>
            <a:ext cx="1840" cy="53364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EE17372A-4561-4D9B-8A65-AD4D11A429E6}"/>
              </a:ext>
            </a:extLst>
          </p:cNvPr>
          <p:cNvSpPr txBox="1"/>
          <p:nvPr/>
        </p:nvSpPr>
        <p:spPr>
          <a:xfrm>
            <a:off x="2574230" y="4227849"/>
            <a:ext cx="6531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COE.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68F90C31-EEB1-4820-A68E-FABB7AEE3E43}"/>
              </a:ext>
            </a:extLst>
          </p:cNvPr>
          <p:cNvCxnSpPr>
            <a:cxnSpLocks/>
          </p:cNvCxnSpPr>
          <p:nvPr/>
        </p:nvCxnSpPr>
        <p:spPr>
          <a:xfrm>
            <a:off x="2543711" y="2584745"/>
            <a:ext cx="0" cy="3307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275C8292-EC15-4AFF-9460-64A395D453CE}"/>
              </a:ext>
            </a:extLst>
          </p:cNvPr>
          <p:cNvSpPr txBox="1"/>
          <p:nvPr/>
        </p:nvSpPr>
        <p:spPr>
          <a:xfrm>
            <a:off x="1932167" y="2670570"/>
            <a:ext cx="6531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COE.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560EB60-FD5D-422A-9859-99E63E628493}"/>
              </a:ext>
            </a:extLst>
          </p:cNvPr>
          <p:cNvSpPr txBox="1"/>
          <p:nvPr/>
        </p:nvSpPr>
        <p:spPr>
          <a:xfrm>
            <a:off x="9797216" y="6049359"/>
            <a:ext cx="229921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CO(E)：CO on ESD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CD(E)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ESD/Drain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CS(E)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ESD/Source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3873009-E0FE-451B-9A53-25BA67F768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561" y="279795"/>
            <a:ext cx="5095875" cy="478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468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9F3C2F1-39B7-4C28-BD2D-EB6E4DDEE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134" y="1024669"/>
            <a:ext cx="5153025" cy="359092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Cat-8: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PO.V1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597379" y="5562923"/>
            <a:ext cx="2239251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4700958" y="5894688"/>
            <a:ext cx="203001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P/AN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6892056" y="3638679"/>
            <a:ext cx="5153025" cy="976915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673437" y="470969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6852465" y="5080791"/>
            <a:ext cx="4116711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through M1(P)-M2(P)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963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4844-C498-1DE1-4178-1C1040C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B7C6-43BD-5D9E-BC99-6DA397B33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 cotrol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4D77EB-91E4-10B0-04D3-F66C1B6AC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DRC integrity</a:t>
            </a:r>
          </a:p>
        </p:txBody>
      </p:sp>
    </p:spTree>
    <p:extLst>
      <p:ext uri="{BB962C8B-B14F-4D97-AF65-F5344CB8AC3E}">
        <p14:creationId xmlns:p14="http://schemas.microsoft.com/office/powerpoint/2010/main" val="1598947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D2F1-1985-61F4-0F1E-EF9B7ACC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7110-496F-7E1D-B358-3742B68B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E6C62-EB78-433E-1995-8034891ABB14}"/>
              </a:ext>
            </a:extLst>
          </p:cNvPr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un.drc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28B05C-8FF1-5C33-9B52-C413103D6C87}"/>
              </a:ext>
            </a:extLst>
          </p:cNvPr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DR_Table.xls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DBF1D-7306-BD2B-B3C1-33CCEACCD2BA}"/>
              </a:ext>
            </a:extLst>
          </p:cNvPr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ython/*.py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5A9E5-16F6-913B-46E9-9D90104C209D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Document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321AB7-B52F-09C6-96C9-80845A34EA6C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B82E25-6B7C-B836-3AAA-D0DDA27708C4}"/>
              </a:ext>
            </a:extLst>
          </p:cNvPr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rules_def.py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0375-C9E9-1CAA-07D6-5EC7BB2C1BEB}"/>
              </a:ext>
            </a:extLst>
          </p:cNvPr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DRC_summary.ppt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7D1B3-1251-D132-52B5-EBE748665ECB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3EFCBE-D074-4075-93E8-565A6E3EDC35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07E5FC1-5D89-47B1-DC5A-246F36E2D8F9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753600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30826E-56BD-9DC6-C97E-79894A436942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>
            <a:off x="973473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26E5A8-EEA7-5065-00E3-DA4506C90A7C}"/>
              </a:ext>
            </a:extLst>
          </p:cNvPr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DR_csv2drc.py</a:t>
            </a:r>
            <a:endParaRPr lang="en-JP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7DCBCC-8085-98CC-EFD2-D94B9EF9CA8D}"/>
              </a:ext>
            </a:extLst>
          </p:cNvPr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DR_csv2py.py</a:t>
            </a:r>
            <a:endParaRPr lang="en-JP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DC2E3E-FBEC-891E-CE35-C6E727A2D81C}"/>
              </a:ext>
            </a:extLst>
          </p:cNvPr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</a:t>
            </a:r>
            <a:endParaRPr lang="en-JP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619AD35-08B0-1890-3143-5D08336326E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609600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E437580-702D-D3D8-B2F5-5DBC886FAFA1}"/>
              </a:ext>
            </a:extLst>
          </p:cNvPr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 &amp; Paste</a:t>
            </a:r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04889-2D32-35F1-24E9-D396E0DA3D0E}"/>
              </a:ext>
            </a:extLst>
          </p:cNvPr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ALL Critical Dimension parameters are referenced by ‘XX.YY’ rule’s name.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1735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to Tapeout Process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79EF0-31C2-3AD3-7AE9-8B3489161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Mask 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4260508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17259-552C-3180-3540-60F7E8245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5DF39-F2C2-2FEB-2BE5-D5D6121E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Designer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4AA82B-A490-40B4-05CD-4EE3C06E31F1}"/>
              </a:ext>
            </a:extLst>
          </p:cNvPr>
          <p:cNvSpPr/>
          <p:nvPr/>
        </p:nvSpPr>
        <p:spPr>
          <a:xfrm>
            <a:off x="1017270" y="173994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5568D-836E-D877-0D9F-6466810C28A2}"/>
              </a:ext>
            </a:extLst>
          </p:cNvPr>
          <p:cNvSpPr/>
          <p:nvPr/>
        </p:nvSpPr>
        <p:spPr>
          <a:xfrm>
            <a:off x="4656000" y="173994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TR-1um_MPW_template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D114ED-2293-781C-3F8A-561207A25E58}"/>
              </a:ext>
            </a:extLst>
          </p:cNvPr>
          <p:cNvSpPr/>
          <p:nvPr/>
        </p:nvSpPr>
        <p:spPr>
          <a:xfrm>
            <a:off x="8294719" y="3069000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Fabrication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37E85A9D-A38B-87BA-D3E0-43269A950F47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OpenSUSI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80E8DB8-70DC-BD20-4DBA-C6A7ED26607E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Tokai Rika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FA2BC1-3219-5E7D-88A3-77D281C0CB39}"/>
              </a:ext>
            </a:extLst>
          </p:cNvPr>
          <p:cNvSpPr/>
          <p:nvPr/>
        </p:nvSpPr>
        <p:spPr>
          <a:xfrm>
            <a:off x="8294730" y="173994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Signoff DRC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9FD970-D02A-615A-8F71-E2C983A1A322}"/>
              </a:ext>
            </a:extLst>
          </p:cNvPr>
          <p:cNvSpPr/>
          <p:nvPr/>
        </p:nvSpPr>
        <p:spPr>
          <a:xfrm>
            <a:off x="4656000" y="3069000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1B32AD-6A5C-EA99-0C4C-728736D809BF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5B79423-B8E8-1CE3-D211-0108852A7C13}"/>
              </a:ext>
            </a:extLst>
          </p:cNvPr>
          <p:cNvCxnSpPr>
            <a:cxnSpLocks/>
            <a:stCxn id="12" idx="1"/>
            <a:endCxn id="4" idx="3"/>
          </p:cNvCxnSpPr>
          <p:nvPr/>
        </p:nvCxnSpPr>
        <p:spPr>
          <a:xfrm flipH="1">
            <a:off x="3897270" y="209994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D7A44FF-FAA3-85C4-5ADB-A7056682C489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 flipH="1">
            <a:off x="9734719" y="2459945"/>
            <a:ext cx="1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4CA85C0-8A08-034A-7DC6-8D7ACBD1DCE1}"/>
              </a:ext>
            </a:extLst>
          </p:cNvPr>
          <p:cNvSpPr txBox="1"/>
          <p:nvPr/>
        </p:nvSpPr>
        <p:spPr>
          <a:xfrm>
            <a:off x="3816629" y="1673549"/>
            <a:ext cx="920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[clone]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8166EC-51D1-DB01-7EB7-34BD263AFEBB}"/>
              </a:ext>
            </a:extLst>
          </p:cNvPr>
          <p:cNvSpPr/>
          <p:nvPr/>
        </p:nvSpPr>
        <p:spPr>
          <a:xfrm>
            <a:off x="1017269" y="3069000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199D88E-5E9D-9868-5FCA-8E84650D219F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flipH="1">
            <a:off x="2457269" y="2459945"/>
            <a:ext cx="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47AB19E-C6EB-DCD5-3689-C020A238D26C}"/>
              </a:ext>
            </a:extLst>
          </p:cNvPr>
          <p:cNvSpPr txBox="1"/>
          <p:nvPr/>
        </p:nvSpPr>
        <p:spPr>
          <a:xfrm>
            <a:off x="2497636" y="2485431"/>
            <a:ext cx="1399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[push]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847112A-37B7-EDC1-432A-8362E9F8247B}"/>
              </a:ext>
            </a:extLst>
          </p:cNvPr>
          <p:cNvSpPr txBox="1"/>
          <p:nvPr/>
        </p:nvSpPr>
        <p:spPr>
          <a:xfrm>
            <a:off x="1017269" y="1345127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local</a:t>
            </a:r>
            <a:endParaRPr lang="en-JP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DDF467-ABF3-5E23-D091-3D7FC688BD5A}"/>
              </a:ext>
            </a:extLst>
          </p:cNvPr>
          <p:cNvSpPr txBox="1"/>
          <p:nvPr/>
        </p:nvSpPr>
        <p:spPr>
          <a:xfrm>
            <a:off x="1017269" y="2671370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remote</a:t>
            </a:r>
            <a:endParaRPr lang="en-JP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AC639E-E5AD-2083-066A-4CAE372C567F}"/>
              </a:ext>
            </a:extLst>
          </p:cNvPr>
          <p:cNvSpPr/>
          <p:nvPr/>
        </p:nvSpPr>
        <p:spPr>
          <a:xfrm>
            <a:off x="1017269" y="5071958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66AB4FE-5CA6-5750-0A10-C4227FA5E6D5}"/>
              </a:ext>
            </a:extLst>
          </p:cNvPr>
          <p:cNvCxnSpPr>
            <a:cxnSpLocks/>
            <a:stCxn id="7" idx="2"/>
            <a:endCxn id="25" idx="0"/>
          </p:cNvCxnSpPr>
          <p:nvPr/>
        </p:nvCxnSpPr>
        <p:spPr>
          <a:xfrm>
            <a:off x="2457269" y="3789000"/>
            <a:ext cx="0" cy="1282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46BFFB3-A589-A2E1-8C67-9271DED58510}"/>
              </a:ext>
            </a:extLst>
          </p:cNvPr>
          <p:cNvSpPr txBox="1"/>
          <p:nvPr/>
        </p:nvSpPr>
        <p:spPr>
          <a:xfrm>
            <a:off x="2457268" y="3805233"/>
            <a:ext cx="1439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JP" dirty="0">
                <a:solidFill>
                  <a:srgbClr val="7030A0"/>
                </a:solidFill>
              </a:rPr>
              <a:t>Precheck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  <a:p>
            <a:r>
              <a:rPr lang="en-JP" dirty="0">
                <a:solidFill>
                  <a:srgbClr val="7030A0"/>
                </a:solidFill>
              </a:rPr>
              <a:t>MDP</a:t>
            </a:r>
          </a:p>
        </p:txBody>
      </p: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EFCABD7A-B63E-50AB-3AC6-54074772BBC8}"/>
              </a:ext>
            </a:extLst>
          </p:cNvPr>
          <p:cNvCxnSpPr>
            <a:cxnSpLocks/>
            <a:stCxn id="25" idx="3"/>
            <a:endCxn id="3" idx="1"/>
          </p:cNvCxnSpPr>
          <p:nvPr/>
        </p:nvCxnSpPr>
        <p:spPr>
          <a:xfrm flipV="1">
            <a:off x="3897269" y="3429000"/>
            <a:ext cx="758731" cy="200295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097FEFA-F02C-C8B3-4561-8115E0365BB3}"/>
              </a:ext>
            </a:extLst>
          </p:cNvPr>
          <p:cNvSpPr txBox="1"/>
          <p:nvPr/>
        </p:nvSpPr>
        <p:spPr>
          <a:xfrm rot="16200000">
            <a:off x="3166659" y="4070687"/>
            <a:ext cx="185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[Import artifact]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A95CE3E-B1D9-4170-37B4-68006F401287}"/>
              </a:ext>
            </a:extLst>
          </p:cNvPr>
          <p:cNvSpPr/>
          <p:nvPr/>
        </p:nvSpPr>
        <p:spPr>
          <a:xfrm>
            <a:off x="4655989" y="5071957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091EC6C-87B3-8694-2F42-BDF3ADEEF6F2}"/>
              </a:ext>
            </a:extLst>
          </p:cNvPr>
          <p:cNvCxnSpPr>
            <a:cxnSpLocks/>
            <a:stCxn id="3" idx="2"/>
            <a:endCxn id="41" idx="0"/>
          </p:cNvCxnSpPr>
          <p:nvPr/>
        </p:nvCxnSpPr>
        <p:spPr>
          <a:xfrm flipH="1">
            <a:off x="6095989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583F9DD-57FA-9973-D5A3-AE25E0219F83}"/>
              </a:ext>
            </a:extLst>
          </p:cNvPr>
          <p:cNvSpPr txBox="1"/>
          <p:nvPr/>
        </p:nvSpPr>
        <p:spPr>
          <a:xfrm>
            <a:off x="6095988" y="3805232"/>
            <a:ext cx="18193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US" dirty="0">
                <a:solidFill>
                  <a:srgbClr val="7030A0"/>
                </a:solidFill>
              </a:rPr>
              <a:t>Logo insertion</a:t>
            </a:r>
          </a:p>
          <a:p>
            <a:r>
              <a:rPr lang="en-US" dirty="0">
                <a:solidFill>
                  <a:srgbClr val="7030A0"/>
                </a:solidFill>
              </a:rPr>
              <a:t>A</a:t>
            </a:r>
            <a:r>
              <a:rPr lang="en-JP" dirty="0">
                <a:solidFill>
                  <a:srgbClr val="7030A0"/>
                </a:solidFill>
              </a:rPr>
              <a:t>ggregation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</p:txBody>
      </p: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CE47584A-6F67-AAD6-9A68-C6AD9724D102}"/>
              </a:ext>
            </a:extLst>
          </p:cNvPr>
          <p:cNvCxnSpPr>
            <a:cxnSpLocks/>
            <a:stCxn id="41" idx="3"/>
            <a:endCxn id="16" idx="1"/>
          </p:cNvCxnSpPr>
          <p:nvPr/>
        </p:nvCxnSpPr>
        <p:spPr>
          <a:xfrm flipV="1">
            <a:off x="7535989" y="2099945"/>
            <a:ext cx="758741" cy="333201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21E3D2D-BDC5-B5D4-3260-69541486B4B8}"/>
              </a:ext>
            </a:extLst>
          </p:cNvPr>
          <p:cNvSpPr txBox="1"/>
          <p:nvPr/>
        </p:nvSpPr>
        <p:spPr>
          <a:xfrm rot="16200000">
            <a:off x="6695949" y="3581880"/>
            <a:ext cx="2828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Download GDSII</a:t>
            </a:r>
            <a:endParaRPr lang="en-JP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7913D4C-DD54-8361-259A-E0796D8641B1}"/>
              </a:ext>
            </a:extLst>
          </p:cNvPr>
          <p:cNvSpPr/>
          <p:nvPr/>
        </p:nvSpPr>
        <p:spPr>
          <a:xfrm>
            <a:off x="8294708" y="5071957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PCM TEST</a:t>
            </a:r>
          </a:p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Wafer out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BFBF409F-30BC-D138-9B83-AF435E4BE68E}"/>
              </a:ext>
            </a:extLst>
          </p:cNvPr>
          <p:cNvCxnSpPr>
            <a:cxnSpLocks/>
            <a:stCxn id="13" idx="2"/>
            <a:endCxn id="52" idx="0"/>
          </p:cNvCxnSpPr>
          <p:nvPr/>
        </p:nvCxnSpPr>
        <p:spPr>
          <a:xfrm flipH="1">
            <a:off x="9734708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97891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Obsolete slides</a:t>
            </a:r>
            <a:endParaRPr lang="en-JP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ADFB14-D74E-4E3D-B0DB-B36FAE0A2B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133599"/>
          </a:xfrm>
        </p:spPr>
        <p:txBody>
          <a:bodyPr>
            <a:normAutofit lnSpcReduction="10000"/>
          </a:bodyPr>
          <a:lstStyle/>
          <a:p>
            <a:endParaRPr lang="en-JP" dirty="0"/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</a:t>
            </a:r>
            <a:r>
              <a:rPr lang="en-US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06/30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Reflected GitHub issues</a:t>
            </a:r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/OpenSUSI/TR-1um/issues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33378099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Cat-1: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420371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420371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2900971" y="2227690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840828" y="231302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2900971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840828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5772992" y="765375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5698919" y="75442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6042992" y="1035375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6287150" y="1134707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158550" y="6102193"/>
            <a:ext cx="4116711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AR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interacting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7C2924-FB81-343E-47B2-85E2D71D0967}"/>
              </a:ext>
            </a:extLst>
          </p:cNvPr>
          <p:cNvSpPr/>
          <p:nvPr/>
        </p:nvSpPr>
        <p:spPr>
          <a:xfrm>
            <a:off x="4108620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3F52F-9D42-8FDC-D484-B016975E6793}"/>
              </a:ext>
            </a:extLst>
          </p:cNvPr>
          <p:cNvSpPr txBox="1"/>
          <p:nvPr/>
        </p:nvSpPr>
        <p:spPr>
          <a:xfrm>
            <a:off x="4108620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D0CB4E-DE95-A094-1001-66FB908618F0}"/>
              </a:ext>
            </a:extLst>
          </p:cNvPr>
          <p:cNvSpPr>
            <a:spLocks noChangeAspect="1"/>
          </p:cNvSpPr>
          <p:nvPr/>
        </p:nvSpPr>
        <p:spPr>
          <a:xfrm>
            <a:off x="4589220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5F00A-B222-964A-E66E-F944A813EABE}"/>
              </a:ext>
            </a:extLst>
          </p:cNvPr>
          <p:cNvSpPr txBox="1"/>
          <p:nvPr/>
        </p:nvSpPr>
        <p:spPr>
          <a:xfrm>
            <a:off x="4529077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F948DC-1936-5800-FD1F-FF3D99AD14DA}"/>
              </a:ext>
            </a:extLst>
          </p:cNvPr>
          <p:cNvSpPr>
            <a:spLocks noChangeAspect="1"/>
          </p:cNvSpPr>
          <p:nvPr/>
        </p:nvSpPr>
        <p:spPr>
          <a:xfrm>
            <a:off x="4589220" y="2222461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F63D6B-ADD4-A41F-2069-CCCDC59DBCE7}"/>
              </a:ext>
            </a:extLst>
          </p:cNvPr>
          <p:cNvSpPr txBox="1"/>
          <p:nvPr/>
        </p:nvSpPr>
        <p:spPr>
          <a:xfrm>
            <a:off x="4529077" y="235865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0E0C9C9-DAA9-4579-97A3-ACCFDFCCF9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1101" y="3414684"/>
            <a:ext cx="3455369" cy="268750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DDA5BE9-9D95-448B-9F00-8AAE08249A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1101" y="741162"/>
            <a:ext cx="4806135" cy="2558534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04391F9E-C126-4B99-A3E4-4EA46005A594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90972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A46750C-1487-4AA6-828A-509BA9C212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887" y="596302"/>
            <a:ext cx="4347852" cy="440410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7956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Cat-2: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680887" y="5248327"/>
            <a:ext cx="4116711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AR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AC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in WN(C)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A98CAAF-D3BC-4D47-93AA-AB306E68FCFA}"/>
              </a:ext>
            </a:extLst>
          </p:cNvPr>
          <p:cNvSpPr txBox="1"/>
          <p:nvPr/>
        </p:nvSpPr>
        <p:spPr>
          <a:xfrm>
            <a:off x="4339650" y="41901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B4DD843C-E011-4815-AE4A-5078AD796C5E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7669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Cat-3: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453327" y="5315791"/>
            <a:ext cx="4396715" cy="138499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AP&amp;GC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AN&amp;GC 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DP/AP(D)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not interacting GC inside 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DN/AN(D)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not interacting GC outside WN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：AN-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：AP-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–(WN covering AC)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F52C864D-FEB9-4AE0-BF2D-D1BDA19410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3327" y="533979"/>
            <a:ext cx="4574591" cy="4633782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3AE9CD62-C0B5-45A8-9498-84DA0C1D763D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86204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5916143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681967" y="2490571"/>
            <a:ext cx="62103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CO.WB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43827" y="1440251"/>
            <a:ext cx="62103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CO.WM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597056" y="2225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7925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643" y="49314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04548" y="49348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340517" y="4216246"/>
            <a:ext cx="62103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CO.WM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88804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48653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Cat-4: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 rot="16200000">
            <a:off x="3381496" y="2478817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6762685" y="5103674"/>
            <a:ext cx="2808366" cy="175432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AP&amp;GC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AN&amp;GC 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AP(D)：AP not interacting 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AN(D)：AN not interacting 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CO(M)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PMOS/NMOS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CO(B)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BG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CO(Area&gt;=1.5um</a:t>
            </a:r>
            <a:r>
              <a:rPr lang="en-US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GC(G)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 for PMOS/NMOS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09D2F0-0C67-4B4C-DADA-5C8ACF9304AB}"/>
              </a:ext>
            </a:extLst>
          </p:cNvPr>
          <p:cNvSpPr txBox="1"/>
          <p:nvPr/>
        </p:nvSpPr>
        <p:spPr>
          <a:xfrm rot="16200000">
            <a:off x="3390585" y="4882691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A1B2ED-5949-4E53-92C5-BCCEF0765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1813" y="540000"/>
            <a:ext cx="4960221" cy="4547633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C8023F0A-FE4D-4EE7-BF24-85123B0C4B7E}"/>
              </a:ext>
            </a:extLst>
          </p:cNvPr>
          <p:cNvSpPr txBox="1"/>
          <p:nvPr/>
        </p:nvSpPr>
        <p:spPr>
          <a:xfrm>
            <a:off x="9559280" y="5103674"/>
            <a:ext cx="2306624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GP：AN&amp;WN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GN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AP-WN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WC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BG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(GP+GN)-WC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F3498933-6A87-4A68-BA68-300AF3AE2BE6}"/>
              </a:ext>
            </a:extLst>
          </p:cNvPr>
          <p:cNvCxnSpPr>
            <a:cxnSpLocks/>
          </p:cNvCxnSpPr>
          <p:nvPr/>
        </p:nvCxnSpPr>
        <p:spPr>
          <a:xfrm>
            <a:off x="4240030" y="2505452"/>
            <a:ext cx="0" cy="31634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AF85FC4F-E104-4A3F-92F5-E79EF0F1B5AE}"/>
              </a:ext>
            </a:extLst>
          </p:cNvPr>
          <p:cNvSpPr txBox="1"/>
          <p:nvPr/>
        </p:nvSpPr>
        <p:spPr>
          <a:xfrm>
            <a:off x="4248297" y="2595230"/>
            <a:ext cx="1386028" cy="369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O.AP(&gt;=0.8)</a:t>
            </a:r>
          </a:p>
          <a:p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O.AP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Y(&lt;=1.8)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DA2353F-3D3A-4CED-AE85-154246D29174}"/>
              </a:ext>
            </a:extLst>
          </p:cNvPr>
          <p:cNvCxnSpPr>
            <a:cxnSpLocks/>
          </p:cNvCxnSpPr>
          <p:nvPr/>
        </p:nvCxnSpPr>
        <p:spPr>
          <a:xfrm>
            <a:off x="4240030" y="3996620"/>
            <a:ext cx="0" cy="28805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07147CD2-6750-460D-8C4F-F06DD7F37AD5}"/>
              </a:ext>
            </a:extLst>
          </p:cNvPr>
          <p:cNvSpPr txBox="1"/>
          <p:nvPr/>
        </p:nvSpPr>
        <p:spPr>
          <a:xfrm>
            <a:off x="4277275" y="3849501"/>
            <a:ext cx="1386028" cy="3693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O.AN(&gt;=0.8)</a:t>
            </a:r>
          </a:p>
          <a:p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O.A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NY(&lt;=1.8)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209D406-8876-4A8B-BBE1-E844EB92B561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66011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78309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01981" y="154936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2825016" y="50112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21882" y="48786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870075" y="1556724"/>
            <a:ext cx="2898925" cy="865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19553" y="1646513"/>
            <a:ext cx="2898925" cy="6791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304708" y="612285"/>
            <a:ext cx="6688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(R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S</a:t>
            </a:r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4886801" y="1666306"/>
            <a:ext cx="8724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492301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52274" y="1666306"/>
            <a:ext cx="69439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782003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(R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S</a:t>
            </a:r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Cat-5: Resistor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(AR/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GR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3283" y="4391891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922748" y="37125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955708" y="432237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196575" y="43918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  <a:endParaRPr lang="en-US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751904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2999233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468166" y="216792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1505895"/>
            <a:ext cx="378893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2268290"/>
            <a:ext cx="3785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  <a:stCxn id="76" idx="0"/>
            <a:endCxn id="71" idx="2"/>
          </p:cNvCxnSpPr>
          <p:nvPr/>
        </p:nvCxnSpPr>
        <p:spPr>
          <a:xfrm flipV="1">
            <a:off x="2032338" y="1721795"/>
            <a:ext cx="197" cy="5464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  <a:stCxn id="89" idx="1"/>
            <a:endCxn id="89" idx="3"/>
          </p:cNvCxnSpPr>
          <p:nvPr/>
        </p:nvCxnSpPr>
        <p:spPr>
          <a:xfrm>
            <a:off x="4783707" y="5341668"/>
            <a:ext cx="144676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4886801" y="966361"/>
            <a:ext cx="872447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5" y="1723495"/>
            <a:ext cx="1056131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83707" y="4685204"/>
            <a:ext cx="1446767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502180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O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4651180" y="6137578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215177" y="5513851"/>
            <a:ext cx="2324229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RR(W)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Width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RR(L)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Length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W=2.8,4,6,12,20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：GC in WN(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W=4,6,12,20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WC  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interacting AC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2A576D6-F178-42CA-85F7-0F7ED0180DEB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6875740" y="851773"/>
            <a:ext cx="232134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75934F88-9753-4E99-8848-70645F7FED83}"/>
              </a:ext>
            </a:extLst>
          </p:cNvPr>
          <p:cNvSpPr txBox="1"/>
          <p:nvPr/>
        </p:nvSpPr>
        <p:spPr>
          <a:xfrm>
            <a:off x="6941334" y="963695"/>
            <a:ext cx="621030" cy="1846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4107F93-3718-49BC-B297-822A1B8F7319}"/>
              </a:ext>
            </a:extLst>
          </p:cNvPr>
          <p:cNvCxnSpPr>
            <a:cxnSpLocks/>
            <a:stCxn id="46" idx="3"/>
            <a:endCxn id="17" idx="0"/>
          </p:cNvCxnSpPr>
          <p:nvPr/>
        </p:nvCxnSpPr>
        <p:spPr>
          <a:xfrm>
            <a:off x="6769016" y="536626"/>
            <a:ext cx="5124" cy="207197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57521C80-023C-40F7-8BFC-C24E8EDD681B}"/>
              </a:ext>
            </a:extLst>
          </p:cNvPr>
          <p:cNvSpPr txBox="1"/>
          <p:nvPr/>
        </p:nvSpPr>
        <p:spPr>
          <a:xfrm>
            <a:off x="6940093" y="555591"/>
            <a:ext cx="621030" cy="1846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CO.GR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19783C4-5947-477C-8DBA-2C20E7E9B0F7}"/>
              </a:ext>
            </a:extLst>
          </p:cNvPr>
          <p:cNvSpPr txBox="1"/>
          <p:nvPr/>
        </p:nvSpPr>
        <p:spPr>
          <a:xfrm>
            <a:off x="5360576" y="52796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E4BE648E-5836-40D6-9170-2F77A252C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749707"/>
            <a:ext cx="203200" cy="215900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E94BC60B-D9D2-488B-8685-0DDF90232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2997036"/>
            <a:ext cx="203200" cy="215900"/>
          </a:xfrm>
          <a:prstGeom prst="rect">
            <a:avLst/>
          </a:prstGeom>
        </p:spPr>
      </p:pic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423A342-A7F3-486A-875D-5EDCC084016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>
            <a:off x="5515612" y="965607"/>
            <a:ext cx="0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1B5AA609-35F7-48AA-98C4-8854566316A0}"/>
              </a:ext>
            </a:extLst>
          </p:cNvPr>
          <p:cNvCxnSpPr>
            <a:cxnSpLocks/>
            <a:stCxn id="108" idx="1"/>
            <a:endCxn id="108" idx="3"/>
          </p:cNvCxnSpPr>
          <p:nvPr/>
        </p:nvCxnSpPr>
        <p:spPr>
          <a:xfrm>
            <a:off x="5414012" y="857657"/>
            <a:ext cx="20320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3EBB022-C090-4050-8A9D-BCA69330456D}"/>
              </a:ext>
            </a:extLst>
          </p:cNvPr>
          <p:cNvCxnSpPr>
            <a:cxnSpLocks/>
            <a:stCxn id="16" idx="3"/>
            <a:endCxn id="108" idx="1"/>
          </p:cNvCxnSpPr>
          <p:nvPr/>
        </p:nvCxnSpPr>
        <p:spPr>
          <a:xfrm flipV="1">
            <a:off x="5252827" y="857657"/>
            <a:ext cx="161185" cy="21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180C1BFE-B655-49F4-94DC-BA160FACD936}"/>
              </a:ext>
            </a:extLst>
          </p:cNvPr>
          <p:cNvSpPr txBox="1"/>
          <p:nvPr/>
        </p:nvSpPr>
        <p:spPr>
          <a:xfrm>
            <a:off x="4955745" y="95884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E931651-EC46-4B05-9CF3-F831BD71A1C2}"/>
              </a:ext>
            </a:extLst>
          </p:cNvPr>
          <p:cNvCxnSpPr>
            <a:cxnSpLocks/>
          </p:cNvCxnSpPr>
          <p:nvPr/>
        </p:nvCxnSpPr>
        <p:spPr>
          <a:xfrm>
            <a:off x="4908392" y="4005959"/>
            <a:ext cx="307315" cy="354261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F48202E2-FEC8-4C06-91D2-01E8DE439BDC}"/>
              </a:ext>
            </a:extLst>
          </p:cNvPr>
          <p:cNvSpPr txBox="1"/>
          <p:nvPr/>
        </p:nvSpPr>
        <p:spPr>
          <a:xfrm>
            <a:off x="4359135" y="3842516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CR.AR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17F8D07-EDBC-4885-AB16-6D68FA120459}"/>
              </a:ext>
            </a:extLst>
          </p:cNvPr>
          <p:cNvSpPr txBox="1"/>
          <p:nvPr/>
        </p:nvSpPr>
        <p:spPr>
          <a:xfrm>
            <a:off x="3726089" y="491790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EC260D51-BDB3-4AC1-BDD5-D260A9E60B58}"/>
              </a:ext>
            </a:extLst>
          </p:cNvPr>
          <p:cNvCxnSpPr>
            <a:cxnSpLocks/>
            <a:stCxn id="5" idx="3"/>
            <a:endCxn id="5" idx="1"/>
          </p:cNvCxnSpPr>
          <p:nvPr/>
        </p:nvCxnSpPr>
        <p:spPr>
          <a:xfrm flipH="1">
            <a:off x="1481931" y="1989469"/>
            <a:ext cx="10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489650" y="20382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E556DB2-98C3-46BE-8FCF-1BE09AF7D411}"/>
              </a:ext>
            </a:extLst>
          </p:cNvPr>
          <p:cNvSpPr txBox="1"/>
          <p:nvPr/>
        </p:nvSpPr>
        <p:spPr>
          <a:xfrm>
            <a:off x="1474957" y="18089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16C55B81-D7B0-4199-9EDC-E4FD52F237A0}"/>
              </a:ext>
            </a:extLst>
          </p:cNvPr>
          <p:cNvSpPr txBox="1"/>
          <p:nvPr/>
        </p:nvSpPr>
        <p:spPr>
          <a:xfrm>
            <a:off x="9539406" y="5519498"/>
            <a:ext cx="2652594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AR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(RR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(W&gt;=4.0)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CO(RRN)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AR(W=2.8)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 ：AR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side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fringe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(W=2.8)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ARW(S)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 side fringe (W&gt;=4.0)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WC</a:t>
            </a: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GR(S)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 side fringe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CO(RSM)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CO(sized) &amp; GR(S)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9964BAE7-F02C-44EF-8A47-63D55F77379E}"/>
              </a:ext>
            </a:extLst>
          </p:cNvPr>
          <p:cNvSpPr txBox="1"/>
          <p:nvPr/>
        </p:nvSpPr>
        <p:spPr>
          <a:xfrm>
            <a:off x="5205097" y="4517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CR.W3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C602090-E10A-48F4-ACE7-C404BF136294}"/>
              </a:ext>
            </a:extLst>
          </p:cNvPr>
          <p:cNvSpPr txBox="1"/>
          <p:nvPr/>
        </p:nvSpPr>
        <p:spPr>
          <a:xfrm>
            <a:off x="5954059" y="44751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875EC5E4-7E0B-49E9-857F-2A2A4A661569}"/>
              </a:ext>
            </a:extLst>
          </p:cNvPr>
          <p:cNvSpPr txBox="1"/>
          <p:nvPr/>
        </p:nvSpPr>
        <p:spPr>
          <a:xfrm>
            <a:off x="3723435" y="50776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F15911A-BCE7-444A-A292-F6301374E57B}"/>
              </a:ext>
            </a:extLst>
          </p:cNvPr>
          <p:cNvSpPr txBox="1"/>
          <p:nvPr/>
        </p:nvSpPr>
        <p:spPr>
          <a:xfrm>
            <a:off x="81547" y="6626168"/>
            <a:ext cx="47231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</a:t>
            </a:r>
            <a:r>
              <a:rPr lang="en-US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Strike-through rules are n</a:t>
            </a:r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ot yet implemented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9836922B-F49C-4002-9104-D72A12A3D3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2482" y="135305"/>
            <a:ext cx="3529580" cy="5408543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C3DF52FB-3B40-41CD-8255-456E3A9276E7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79172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5781209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016584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224319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554550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594300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597446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540760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594300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678700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684300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643539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693816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429412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982835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194299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143937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683540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699652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286691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144645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144645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167059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491784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4971345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4836677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4921642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623059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695073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335507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171230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703815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366341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319668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630110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139668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139668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144645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004331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059675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519649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656984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324645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630110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656984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634202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219768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195141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350831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396707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522907" y="333151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M1.SW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Cat-6: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567176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742654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578377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564680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834680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014680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459269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164500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866096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631149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629434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1803842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663907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713326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155098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353128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524819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360542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326681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1(C)</a:t>
            </a:r>
            <a:endParaRPr lang="en-JP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304964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295392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357842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330220" y="5158784"/>
            <a:ext cx="4242876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：Wide M1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(W&gt;=10.0)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interacting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(AN &amp;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M1(C) (W=1.2um)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AC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(W=1.2um)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large contact (Area&gt;=1.5um</a:t>
            </a:r>
            <a:r>
              <a:rPr lang="en-US" altLang="ja-JP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6166AA0-1859-4FF7-BB1D-58CA2CFBA3FB}"/>
              </a:ext>
            </a:extLst>
          </p:cNvPr>
          <p:cNvSpPr/>
          <p:nvPr/>
        </p:nvSpPr>
        <p:spPr>
          <a:xfrm>
            <a:off x="2320123" y="50257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B8E94CD-E408-4B84-A3CA-3803A527D1F3}"/>
              </a:ext>
            </a:extLst>
          </p:cNvPr>
          <p:cNvCxnSpPr>
            <a:cxnSpLocks/>
          </p:cNvCxnSpPr>
          <p:nvPr/>
        </p:nvCxnSpPr>
        <p:spPr>
          <a:xfrm>
            <a:off x="2340053" y="4929930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DCFEF87-DE7A-447E-B13B-FAC4172BDF20}"/>
              </a:ext>
            </a:extLst>
          </p:cNvPr>
          <p:cNvCxnSpPr>
            <a:cxnSpLocks/>
          </p:cNvCxnSpPr>
          <p:nvPr/>
        </p:nvCxnSpPr>
        <p:spPr>
          <a:xfrm flipH="1">
            <a:off x="2544680" y="4929930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D800CD8-615F-46B7-8693-8D47F2C040BD}"/>
              </a:ext>
            </a:extLst>
          </p:cNvPr>
          <p:cNvCxnSpPr>
            <a:endCxn id="78" idx="3"/>
          </p:cNvCxnSpPr>
          <p:nvPr/>
        </p:nvCxnSpPr>
        <p:spPr>
          <a:xfrm>
            <a:off x="2500123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0F1F0D8-27F7-43BB-B458-D99C4EFAB52D}"/>
              </a:ext>
            </a:extLst>
          </p:cNvPr>
          <p:cNvCxnSpPr/>
          <p:nvPr/>
        </p:nvCxnSpPr>
        <p:spPr>
          <a:xfrm>
            <a:off x="2546022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549B20C6-8397-469A-9B70-65F3BAC0321A}"/>
              </a:ext>
            </a:extLst>
          </p:cNvPr>
          <p:cNvSpPr txBox="1"/>
          <p:nvPr/>
        </p:nvSpPr>
        <p:spPr>
          <a:xfrm>
            <a:off x="2387280" y="5040144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CED6F80-4B2A-4A93-A93C-EDE1932AFFEE}"/>
              </a:ext>
            </a:extLst>
          </p:cNvPr>
          <p:cNvSpPr txBox="1"/>
          <p:nvPr/>
        </p:nvSpPr>
        <p:spPr>
          <a:xfrm>
            <a:off x="2370836" y="44998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M1.C</a:t>
            </a:r>
            <a:r>
              <a:rPr lang="en-US" sz="1200" b="1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endParaRPr lang="en-JP" sz="1200" b="1" strike="sngStrik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685852A7-D7B6-48C1-8C83-AC85134BFC35}"/>
              </a:ext>
            </a:extLst>
          </p:cNvPr>
          <p:cNvCxnSpPr>
            <a:cxnSpLocks/>
          </p:cNvCxnSpPr>
          <p:nvPr/>
        </p:nvCxnSpPr>
        <p:spPr>
          <a:xfrm>
            <a:off x="6677064" y="6114182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ECA3FF95-253F-4898-820C-9FAF2AB1F4C1}"/>
              </a:ext>
            </a:extLst>
          </p:cNvPr>
          <p:cNvCxnSpPr>
            <a:cxnSpLocks/>
          </p:cNvCxnSpPr>
          <p:nvPr/>
        </p:nvCxnSpPr>
        <p:spPr>
          <a:xfrm flipH="1">
            <a:off x="7007898" y="6114182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53F9D6F-285D-48F4-95BE-1194E484F778}"/>
              </a:ext>
            </a:extLst>
          </p:cNvPr>
          <p:cNvCxnSpPr/>
          <p:nvPr/>
        </p:nvCxnSpPr>
        <p:spPr>
          <a:xfrm>
            <a:off x="6837134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CD55970C-CDA9-40FB-8B6B-63A2A2F9E1A6}"/>
              </a:ext>
            </a:extLst>
          </p:cNvPr>
          <p:cNvCxnSpPr/>
          <p:nvPr/>
        </p:nvCxnSpPr>
        <p:spPr>
          <a:xfrm>
            <a:off x="7009240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5153D36-6FC2-4C2E-8EA5-2B66307366B7}"/>
              </a:ext>
            </a:extLst>
          </p:cNvPr>
          <p:cNvSpPr txBox="1"/>
          <p:nvPr/>
        </p:nvSpPr>
        <p:spPr>
          <a:xfrm>
            <a:off x="6638939" y="62499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C6FC3145-151F-4220-85FE-9EF8049862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220" y="866299"/>
            <a:ext cx="4666639" cy="4269845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1E8D8CAA-F2BE-4966-92E6-DCF6BA6C4413}"/>
              </a:ext>
            </a:extLst>
          </p:cNvPr>
          <p:cNvSpPr txBox="1"/>
          <p:nvPr/>
        </p:nvSpPr>
        <p:spPr>
          <a:xfrm>
            <a:off x="2376887" y="46473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FF95A57-0EA6-487F-B98F-6C582FC539C8}"/>
              </a:ext>
            </a:extLst>
          </p:cNvPr>
          <p:cNvSpPr txBox="1"/>
          <p:nvPr/>
        </p:nvSpPr>
        <p:spPr>
          <a:xfrm>
            <a:off x="7259969" y="6512237"/>
            <a:ext cx="47231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</a:t>
            </a:r>
            <a:r>
              <a:rPr lang="en-US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Strike-through rules are n</a:t>
            </a:r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ot yet implemented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EE8ECA6-33FF-4287-9B61-FE5A018D65E3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09888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221098" y="4038819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221097" y="1221923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177006" y="616914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727829" y="1214018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407763" y="983092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734476" y="4106418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177006" y="743601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089580" y="994135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736665" y="54281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371203" y="2546729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374076" y="442919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474811" y="42218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3596813" y="324327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3628971" y="332459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720718" y="126199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498048" y="232475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8161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Cat-7: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2623887" y="2511250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199501" y="138149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3743993" y="430016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449438" y="240236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449438" y="184825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200199" y="193064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450179" y="193356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2537033" y="204762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2557036" y="2142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2514676" y="16463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2673445" y="254092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417880" y="163489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3789182" y="1222610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3776792" y="1807289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3743993" y="4019663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2630891" y="5234914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456442" y="512603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456442" y="4571918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457183" y="465722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2544037" y="4771288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2564040" y="486608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2521680" y="43700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2668712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1811870" y="19602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208191" y="466493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1828408" y="469452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301653" y="513357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301653" y="4579465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3610745" y="5223577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026523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199501" y="53235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417880" y="5576942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301512" y="238517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301512" y="183106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3609506" y="2494694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034337" y="2548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95459" y="533616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151195" y="585641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457312" y="4038275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5680190" y="4038275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5676256" y="40196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5527376" y="38284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478702" y="1229600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5701580" y="1229600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5697646" y="1210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5548766" y="10197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6667" y="3395950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4655367" y="2910843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4647553" y="3575145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4647553" y="30128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4655367" y="381495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361727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4913242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361727" y="548665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4913242" y="548665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6951212" y="4434104"/>
            <a:ext cx="411671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APE/ANE：AP/AN on ESD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ESD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2303007-3E59-451C-924F-7DA16C5895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8452" y="531585"/>
            <a:ext cx="4811496" cy="3797613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7CA49761-6208-478D-9CC4-7DE9042E4A66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06024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9F3C2F1-39B7-4C28-BD2D-EB6E4DDEE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134" y="1024669"/>
            <a:ext cx="5153025" cy="359092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Cat-8: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PO.V1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597379" y="5562923"/>
            <a:ext cx="2239251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4700958" y="5894688"/>
            <a:ext cx="203001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P/AN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6892056" y="3638679"/>
            <a:ext cx="5153025" cy="976915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673437" y="470969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6852465" y="5080791"/>
            <a:ext cx="4116711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through M1(P)-M2(P)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9085539-DFDE-4C9A-A8CA-77A9E59CB217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39688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Obsolete slides</a:t>
            </a:r>
            <a:endParaRPr lang="en-JP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ADFB14-D74E-4E3D-B0DB-B36FAE0A2B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133599"/>
          </a:xfrm>
        </p:spPr>
        <p:txBody>
          <a:bodyPr>
            <a:normAutofit lnSpcReduction="10000"/>
          </a:bodyPr>
          <a:lstStyle/>
          <a:p>
            <a:endParaRPr lang="en-JP" dirty="0"/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2026/06/</a:t>
            </a:r>
            <a:r>
              <a:rPr lang="en-US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11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Reflected GitHub issues</a:t>
            </a:r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/OpenSUSI/TR-1um/issues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23806144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Cat-1: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420371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420371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2900971" y="2227690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840828" y="231302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2900971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840828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E77C5B0E-0284-F194-9C18-41A3A8EA0C1E}"/>
              </a:ext>
            </a:extLst>
          </p:cNvPr>
          <p:cNvSpPr txBox="1"/>
          <p:nvPr/>
        </p:nvSpPr>
        <p:spPr>
          <a:xfrm>
            <a:off x="7740000" y="3499011"/>
            <a:ext cx="3641679" cy="24406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Function:</a:t>
            </a: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Width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Space min/max (L1=L2)</a:t>
            </a:r>
          </a:p>
          <a:p>
            <a:pPr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Separate L2 min/max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Emin/max:	L1 Enclosed L2 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Enclosing L2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ECmin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MOS Endcap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min</a:t>
            </a:r>
            <a:endParaRPr lang="en-US" sz="1200" b="1" i="0" u="none" strike="noStrike" dirty="0">
              <a:solidFill>
                <a:schemeClr val="dk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L1 </a:t>
            </a: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Windth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equal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Space equal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Donut:	L1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lang="en-US" sz="1200" b="1" i="0" u="none" strike="noStrike" baseline="0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Souuounded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by L2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None:	Not</a:t>
            </a:r>
            <a:r>
              <a:rPr lang="en-US" sz="1200" b="1" baseline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Exist</a:t>
            </a:r>
            <a:endParaRPr lang="en-US" sz="12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5909728" y="765375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5835655" y="75442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6179728" y="1035375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6287150" y="1134707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740000" y="6386141"/>
            <a:ext cx="4116711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69846C-EDB4-36FD-C781-0D2901B35B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311259"/>
              </p:ext>
            </p:extLst>
          </p:nvPr>
        </p:nvGraphicFramePr>
        <p:xfrm>
          <a:off x="7740000" y="779233"/>
          <a:ext cx="4320000" cy="22309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498299392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730394361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784412555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1398037185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02156968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031035407"/>
                    </a:ext>
                  </a:extLst>
                </a:gridCol>
              </a:tblGrid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81709452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87310067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69482951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06273546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AA+GC+GR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31322252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430194853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59014935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5942740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65125108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26511512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V1(P)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Exist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45311239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C97C2924-FB81-343E-47B2-85E2D71D0967}"/>
              </a:ext>
            </a:extLst>
          </p:cNvPr>
          <p:cNvSpPr/>
          <p:nvPr/>
        </p:nvSpPr>
        <p:spPr>
          <a:xfrm>
            <a:off x="4108620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3F52F-9D42-8FDC-D484-B016975E6793}"/>
              </a:ext>
            </a:extLst>
          </p:cNvPr>
          <p:cNvSpPr txBox="1"/>
          <p:nvPr/>
        </p:nvSpPr>
        <p:spPr>
          <a:xfrm>
            <a:off x="4108620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D0CB4E-DE95-A094-1001-66FB908618F0}"/>
              </a:ext>
            </a:extLst>
          </p:cNvPr>
          <p:cNvSpPr>
            <a:spLocks noChangeAspect="1"/>
          </p:cNvSpPr>
          <p:nvPr/>
        </p:nvSpPr>
        <p:spPr>
          <a:xfrm>
            <a:off x="4589220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5F00A-B222-964A-E66E-F944A813EABE}"/>
              </a:ext>
            </a:extLst>
          </p:cNvPr>
          <p:cNvSpPr txBox="1"/>
          <p:nvPr/>
        </p:nvSpPr>
        <p:spPr>
          <a:xfrm>
            <a:off x="4529077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F948DC-1936-5800-FD1F-FF3D99AD14DA}"/>
              </a:ext>
            </a:extLst>
          </p:cNvPr>
          <p:cNvSpPr>
            <a:spLocks noChangeAspect="1"/>
          </p:cNvSpPr>
          <p:nvPr/>
        </p:nvSpPr>
        <p:spPr>
          <a:xfrm>
            <a:off x="4589220" y="2222461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F63D6B-ADD4-A41F-2069-CCCDC59DBCE7}"/>
              </a:ext>
            </a:extLst>
          </p:cNvPr>
          <p:cNvSpPr txBox="1"/>
          <p:nvPr/>
        </p:nvSpPr>
        <p:spPr>
          <a:xfrm>
            <a:off x="4529077" y="235865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E48398-6FCA-46C2-8F04-AFA9CF102FD1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74445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7956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Cat-2: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714948" y="5016437"/>
            <a:ext cx="4116711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overlapped AR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overlapped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in WN(C)</a:t>
            </a:r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B8C58F6-7C54-02C5-B25D-E7248B7F65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2926122"/>
              </p:ext>
            </p:extLst>
          </p:nvPr>
        </p:nvGraphicFramePr>
        <p:xfrm>
          <a:off x="7666852" y="313075"/>
          <a:ext cx="4320000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801896865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1621714302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5265462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67620367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80167762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3691210734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22647644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8.0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28925602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51689372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9.5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41829966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7081304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9.5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5821742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8.0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8521086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0932128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71308605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8707570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0896472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AR.WR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6067370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57718931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3630657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AC.W1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Wmin</a:t>
                      </a:r>
                      <a:r>
                        <a:rPr lang="en-US" sz="1100" u="none" strike="noStrike" dirty="0">
                          <a:effectLst/>
                        </a:rPr>
                        <a:t>/max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28.5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120.0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9438160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AC.S1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6.4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48036446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AC.WC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WN(C)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Emin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8.0</a:t>
                      </a: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68674564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AN.WC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WN(C)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Emin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3.0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3685567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AC.AN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Sfix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2.8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2.8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63600211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AC.GC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GC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Efix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1.4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1.4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3677541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AC.R1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AN(C)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Donut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0.0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76858730"/>
                  </a:ext>
                </a:extLst>
              </a:tr>
            </a:tbl>
          </a:graphicData>
        </a:graphic>
      </p:graphicFrame>
      <p:sp>
        <p:nvSpPr>
          <p:cNvPr id="115" name="TextBox 114">
            <a:extLst>
              <a:ext uri="{FF2B5EF4-FFF2-40B4-BE49-F238E27FC236}">
                <a16:creationId xmlns:a16="http://schemas.microsoft.com/office/drawing/2014/main" id="{4A98CAAF-D3BC-4D47-93AA-AB306E68FCFA}"/>
              </a:ext>
            </a:extLst>
          </p:cNvPr>
          <p:cNvSpPr txBox="1"/>
          <p:nvPr/>
        </p:nvSpPr>
        <p:spPr>
          <a:xfrm>
            <a:off x="4339650" y="41901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6BE8BBB-A8FA-44B0-B168-9BE308BE7E04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48883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Cat-3: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714948" y="5016437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AN(M)：AN-DN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AP(M)：AP-DP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WN(M)：WN overlapped AN/AP</a:t>
            </a: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74E503E8-3B7A-902E-5498-2E0E64969F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7576548"/>
              </p:ext>
            </p:extLst>
          </p:nvPr>
        </p:nvGraphicFramePr>
        <p:xfrm>
          <a:off x="7629834" y="514868"/>
          <a:ext cx="4320000" cy="425915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2221269021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189607107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3889627498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43665324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2227245770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682232684"/>
                    </a:ext>
                  </a:extLst>
                </a:gridCol>
              </a:tblGrid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766593938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51923663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21497620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54895463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05874279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7298479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13577607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402814105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8599567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841235343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2399362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42786376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414630802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27305929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74801036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84932585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69623298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25643918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48778842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03169020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821366811"/>
                  </a:ext>
                </a:extLst>
              </a:tr>
            </a:tbl>
          </a:graphicData>
        </a:graphic>
      </p:graphicFrame>
      <p:sp>
        <p:nvSpPr>
          <p:cNvPr id="81" name="TextBox 80">
            <a:extLst>
              <a:ext uri="{FF2B5EF4-FFF2-40B4-BE49-F238E27FC236}">
                <a16:creationId xmlns:a16="http://schemas.microsoft.com/office/drawing/2014/main" id="{00AD8C03-1218-4C27-BFFF-8328F8FD1380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1296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Cat-4: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 rot="16200000">
            <a:off x="3381496" y="2478817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7563556" y="4502857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AP(D)：AP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GC(G)：GC for PMOS/NMOS </a:t>
            </a: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09D2F0-0C67-4B4C-DADA-5C8ACF9304AB}"/>
              </a:ext>
            </a:extLst>
          </p:cNvPr>
          <p:cNvSpPr txBox="1"/>
          <p:nvPr/>
        </p:nvSpPr>
        <p:spPr>
          <a:xfrm rot="16200000">
            <a:off x="3390585" y="4882691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EB5343D-AED4-BDA5-62E9-8046CFFB88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6291173"/>
              </p:ext>
            </p:extLst>
          </p:nvPr>
        </p:nvGraphicFramePr>
        <p:xfrm>
          <a:off x="7457131" y="247708"/>
          <a:ext cx="4320000" cy="368791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073243010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1069323268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949596526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3951263966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25716007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2772288816"/>
                    </a:ext>
                  </a:extLst>
                </a:gridCol>
              </a:tblGrid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04593280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0232283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75208617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88126955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3058390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GC.EP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ECmin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74983917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GC.EN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ECmin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89568498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Wfix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1.0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altLang="ja-JP" sz="1100" u="none" strike="noStrike" dirty="0">
                          <a:effectLst/>
                        </a:rPr>
                        <a:t>1.</a:t>
                      </a:r>
                      <a:r>
                        <a:rPr lang="en-US" altLang="ja-JP" sz="1100" u="none" strike="noStrike" dirty="0">
                          <a:effectLst/>
                        </a:rPr>
                        <a:t>0</a:t>
                      </a:r>
                      <a:endParaRPr lang="en-JP" altLang="ja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9242880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2429854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CO.WD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CO(D)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11924833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CO(D)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AP+AN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70701503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41642165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70302006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CO.GG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GC(G)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38628904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GC+GR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11440380"/>
                  </a:ext>
                </a:extLst>
              </a:tr>
            </a:tbl>
          </a:graphicData>
        </a:graphic>
      </p:graphicFrame>
      <p:sp>
        <p:nvSpPr>
          <p:cNvPr id="96" name="TextBox 95">
            <a:extLst>
              <a:ext uri="{FF2B5EF4-FFF2-40B4-BE49-F238E27FC236}">
                <a16:creationId xmlns:a16="http://schemas.microsoft.com/office/drawing/2014/main" id="{89D40A2C-1080-447D-8AED-30096F1AFCF1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80117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3729329" y="5055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GC(AR)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870075" y="1556724"/>
            <a:ext cx="2898925" cy="865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19553" y="1646513"/>
            <a:ext cx="2898925" cy="6791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304708" y="612285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4886801" y="1666306"/>
            <a:ext cx="8724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492301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52274" y="1666306"/>
            <a:ext cx="69439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782003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Cat-5: Resistor(AR/RS)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922748" y="37125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751904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2999233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468166" y="216792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9812" y="1513038"/>
            <a:ext cx="203200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2748" y="2259086"/>
            <a:ext cx="2032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</p:cNvCxnSpPr>
          <p:nvPr/>
        </p:nvCxnSpPr>
        <p:spPr>
          <a:xfrm flipV="1">
            <a:off x="2041412" y="1719460"/>
            <a:ext cx="0" cy="5396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  <a:stCxn id="89" idx="1"/>
            <a:endCxn id="89" idx="3"/>
          </p:cNvCxnSpPr>
          <p:nvPr/>
        </p:nvCxnSpPr>
        <p:spPr>
          <a:xfrm>
            <a:off x="4783707" y="5341668"/>
            <a:ext cx="144676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4886801" y="966361"/>
            <a:ext cx="872447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83707" y="4685204"/>
            <a:ext cx="1446767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CL(RR)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5379011" y="6183679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543636" y="5541370"/>
            <a:ext cx="2378031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GC(AR)：GC in WN(R)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AR effective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AR effective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CO(RR)：CO short side on AR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CL(RR)：CO long  side on AR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AR(T) ：AR top fringe 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AR(S) ：AR side fringe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AR.W1 ：allow only 2.8,4,6,12,20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GR.W1 ：allow only 4,6,12,20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490F4D7-1E65-2507-3CCE-2DA6DA3368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5305590"/>
              </p:ext>
            </p:extLst>
          </p:nvPr>
        </p:nvGraphicFramePr>
        <p:xfrm>
          <a:off x="7586075" y="398869"/>
          <a:ext cx="4319999" cy="5197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135922636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440654740"/>
                    </a:ext>
                  </a:extLst>
                </a:gridCol>
                <a:gridCol w="1023157">
                  <a:extLst>
                    <a:ext uri="{9D8B030D-6E8A-4147-A177-3AD203B41FA5}">
                      <a16:colId xmlns:a16="http://schemas.microsoft.com/office/drawing/2014/main" val="1448275270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021917895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3014041527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053767242"/>
                    </a:ext>
                  </a:extLst>
                </a:gridCol>
              </a:tblGrid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Rule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L1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L2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Func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MIN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MAX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687243375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AR.W1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RR(L)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Wmin/max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2.8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19594548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AR.WF</a:t>
                      </a: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</a:t>
                      </a: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ARF</a:t>
                      </a: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Require</a:t>
                      </a: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52461687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AR.L1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RR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RR(W)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Lmin</a:t>
                      </a: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/max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13.0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100.0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43109461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AR.GC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GC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AR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Smin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325586240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AR.PW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GC(R)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31171910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AR.XY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Bevel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XYmin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393974524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GC.AN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GC(R)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Smin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???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???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83517976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GC.R1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GC(R)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Donut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255961978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GC.R2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GC(R)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WN(R)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TieDown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1507607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GR.W1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RS(L)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Wmin/max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4.0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338988946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GR.L1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RS(W)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Lmin/max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100.0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102056012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GR.S1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Smin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2.0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0275691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CR.W1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CO(RR)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009569990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CR.W2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CL(RR)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Wmin/max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50"/>
                          </a:solidFill>
                          <a:effectLst/>
                          <a:latin typeface="+mn-lt"/>
                        </a:rPr>
                        <a:t>20.0</a:t>
                      </a:r>
                      <a:endParaRPr lang="en-JP" sz="900" b="1" i="0" u="none" strike="noStrike" dirty="0">
                        <a:solidFill>
                          <a:srgbClr val="00B05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25433062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CR.AR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CO(RR)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AR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 err="1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Emin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0.8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JP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081819183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CR.AT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CO(RR)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AR(T)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Emin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1.5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86730393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CR.AS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CO(RR)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AR(S)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Efix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0.9@W=2.8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1.2@W=&gt;4</a:t>
                      </a:r>
                      <a:r>
                        <a:rPr lang="en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 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95271150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CC.W1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CO(C)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Wfix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1.2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1.2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752212881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CC.S1/CO.SC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CO(C)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CO(C)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Sfix</a:t>
                      </a: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/</a:t>
                      </a: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Smin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1.2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1.2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34481786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CC.AC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CO(C)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Emin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2.9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539098651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CC.AN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CO(C)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Emin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1.2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875483432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CO.WS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CO(S)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 err="1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Wfix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</a:t>
                      </a:r>
                      <a:endParaRPr lang="en-JP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088721037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CS.S1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CO(RS)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CO(RS)</a:t>
                      </a:r>
                      <a:endParaRPr lang="en-US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 err="1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Sfix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</a:t>
                      </a:r>
                      <a:endParaRPr lang="en-JP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79049385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GR.AT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CO(RS)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GR(T)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 err="1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Efix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0.8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0.8</a:t>
                      </a:r>
                      <a:endParaRPr lang="en-JP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414899365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GR.AS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CO(RS)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GR(S)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 err="1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Efix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5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5</a:t>
                      </a:r>
                      <a:endParaRPr lang="en-JP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012603158"/>
                  </a:ext>
                </a:extLst>
              </a:tr>
            </a:tbl>
          </a:graphicData>
        </a:graphic>
      </p:graphicFrame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2A576D6-F178-42CA-85F7-0F7ED0180DEB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6875740" y="851773"/>
            <a:ext cx="232134" cy="0"/>
          </a:xfrm>
          <a:prstGeom prst="straightConnector1">
            <a:avLst/>
          </a:prstGeom>
          <a:ln>
            <a:solidFill>
              <a:srgbClr val="00B0F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75934F88-9753-4E99-8848-70645F7FED83}"/>
              </a:ext>
            </a:extLst>
          </p:cNvPr>
          <p:cNvSpPr txBox="1"/>
          <p:nvPr/>
        </p:nvSpPr>
        <p:spPr>
          <a:xfrm>
            <a:off x="6906828" y="9636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R.AS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4107F93-3718-49BC-B297-822A1B8F7319}"/>
              </a:ext>
            </a:extLst>
          </p:cNvPr>
          <p:cNvCxnSpPr>
            <a:cxnSpLocks/>
            <a:stCxn id="46" idx="3"/>
            <a:endCxn id="17" idx="0"/>
          </p:cNvCxnSpPr>
          <p:nvPr/>
        </p:nvCxnSpPr>
        <p:spPr>
          <a:xfrm>
            <a:off x="6769016" y="536626"/>
            <a:ext cx="5124" cy="207197"/>
          </a:xfrm>
          <a:prstGeom prst="straightConnector1">
            <a:avLst/>
          </a:prstGeom>
          <a:ln>
            <a:solidFill>
              <a:srgbClr val="00B0F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57521C80-023C-40F7-8BFC-C24E8EDD681B}"/>
              </a:ext>
            </a:extLst>
          </p:cNvPr>
          <p:cNvSpPr txBox="1"/>
          <p:nvPr/>
        </p:nvSpPr>
        <p:spPr>
          <a:xfrm>
            <a:off x="6905587" y="5555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R.A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19783C4-5947-477C-8DBA-2C20E7E9B0F7}"/>
              </a:ext>
            </a:extLst>
          </p:cNvPr>
          <p:cNvSpPr txBox="1"/>
          <p:nvPr/>
        </p:nvSpPr>
        <p:spPr>
          <a:xfrm>
            <a:off x="5360576" y="52796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WS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E4BE648E-5836-40D6-9170-2F77A252C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749707"/>
            <a:ext cx="203200" cy="215900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E94BC60B-D9D2-488B-8685-0DDF90232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2997036"/>
            <a:ext cx="203200" cy="215900"/>
          </a:xfrm>
          <a:prstGeom prst="rect">
            <a:avLst/>
          </a:prstGeom>
        </p:spPr>
      </p:pic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423A342-A7F3-486A-875D-5EDCC084016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>
            <a:off x="5515612" y="965607"/>
            <a:ext cx="0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1B5AA609-35F7-48AA-98C4-8854566316A0}"/>
              </a:ext>
            </a:extLst>
          </p:cNvPr>
          <p:cNvCxnSpPr>
            <a:cxnSpLocks/>
            <a:stCxn id="108" idx="1"/>
            <a:endCxn id="108" idx="3"/>
          </p:cNvCxnSpPr>
          <p:nvPr/>
        </p:nvCxnSpPr>
        <p:spPr>
          <a:xfrm>
            <a:off x="5414012" y="857657"/>
            <a:ext cx="203200" cy="0"/>
          </a:xfrm>
          <a:prstGeom prst="straightConnector1">
            <a:avLst/>
          </a:prstGeom>
          <a:ln>
            <a:solidFill>
              <a:srgbClr val="00B0F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3EBB022-C090-4050-8A9D-BCA69330456D}"/>
              </a:ext>
            </a:extLst>
          </p:cNvPr>
          <p:cNvCxnSpPr>
            <a:cxnSpLocks/>
            <a:stCxn id="16" idx="3"/>
            <a:endCxn id="108" idx="1"/>
          </p:cNvCxnSpPr>
          <p:nvPr/>
        </p:nvCxnSpPr>
        <p:spPr>
          <a:xfrm flipV="1">
            <a:off x="5252827" y="857657"/>
            <a:ext cx="161185" cy="2197"/>
          </a:xfrm>
          <a:prstGeom prst="straightConnector1">
            <a:avLst/>
          </a:prstGeom>
          <a:ln>
            <a:solidFill>
              <a:srgbClr val="00B0F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180C1BFE-B655-49F4-94DC-BA160FACD936}"/>
              </a:ext>
            </a:extLst>
          </p:cNvPr>
          <p:cNvSpPr txBox="1"/>
          <p:nvPr/>
        </p:nvSpPr>
        <p:spPr>
          <a:xfrm>
            <a:off x="4955745" y="95884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S1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92CDE6B-2914-4163-918C-23162C57774F}"/>
              </a:ext>
            </a:extLst>
          </p:cNvPr>
          <p:cNvSpPr txBox="1"/>
          <p:nvPr/>
        </p:nvSpPr>
        <p:spPr>
          <a:xfrm>
            <a:off x="9746074" y="5621881"/>
            <a:ext cx="2378031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：CO on AC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CO(S)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Small(1um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□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 CO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T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 top fringe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GR(S) 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 side fringe</a:t>
            </a:r>
          </a:p>
          <a:p>
            <a:endParaRPr lang="en-US" altLang="ja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E931651-EC46-4B05-9CF3-F831BD71A1C2}"/>
              </a:ext>
            </a:extLst>
          </p:cNvPr>
          <p:cNvCxnSpPr>
            <a:cxnSpLocks/>
          </p:cNvCxnSpPr>
          <p:nvPr/>
        </p:nvCxnSpPr>
        <p:spPr>
          <a:xfrm>
            <a:off x="4908392" y="4005959"/>
            <a:ext cx="307315" cy="354261"/>
          </a:xfrm>
          <a:prstGeom prst="straightConnector1">
            <a:avLst/>
          </a:prstGeom>
          <a:ln>
            <a:solidFill>
              <a:srgbClr val="00B0F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F48202E2-FEC8-4C06-91D2-01E8DE439BDC}"/>
              </a:ext>
            </a:extLst>
          </p:cNvPr>
          <p:cNvSpPr txBox="1"/>
          <p:nvPr/>
        </p:nvSpPr>
        <p:spPr>
          <a:xfrm>
            <a:off x="4359135" y="38425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CR.AR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17F8D07-EDBC-4885-AB16-6D68FA120459}"/>
              </a:ext>
            </a:extLst>
          </p:cNvPr>
          <p:cNvSpPr txBox="1"/>
          <p:nvPr/>
        </p:nvSpPr>
        <p:spPr>
          <a:xfrm>
            <a:off x="3726089" y="491790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303C0AB4-A6E8-47AC-91FE-C358D27A0571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0568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6003403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238778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446513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776744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819640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900894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1205029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508885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557701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541862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226525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546839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412008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441962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745101" y="333151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M1.SW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Cat-6: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964848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786874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1056874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386694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2026036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886101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935520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747013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M1(C)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679550" y="5203724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M1(C)：M1 in WN(C)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CO(C)：CO on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CO(S)：CO small contact 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CO(L)：CO large contact (only on AR)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M1(W)：Wide M1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E98DD4F0-4887-9913-9B49-0459B8BB1A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6837005"/>
              </p:ext>
            </p:extLst>
          </p:nvPr>
        </p:nvGraphicFramePr>
        <p:xfrm>
          <a:off x="7634979" y="606375"/>
          <a:ext cx="4320000" cy="43513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2665746744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919064667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3755908466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94173299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691551388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154051558"/>
                    </a:ext>
                  </a:extLst>
                </a:gridCol>
              </a:tblGrid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02886607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06882309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M1.W2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32487421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04793757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5926573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CO(S)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Fmin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893171585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M1.CC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CO(C)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Fmin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1.3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4140010138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M1.CL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CO(L)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Fmin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1.2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261188229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M1.SW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0244014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89059982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4282593901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64839193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98972211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581969116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V1.CL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CO(L)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65580190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133253121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14196944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06642209"/>
                  </a:ext>
                </a:extLst>
              </a:tr>
            </a:tbl>
          </a:graphicData>
        </a:graphic>
      </p:graphicFrame>
      <p:sp>
        <p:nvSpPr>
          <p:cNvPr id="78" name="Rectangle 77">
            <a:extLst>
              <a:ext uri="{FF2B5EF4-FFF2-40B4-BE49-F238E27FC236}">
                <a16:creationId xmlns:a16="http://schemas.microsoft.com/office/drawing/2014/main" id="{66166AA0-1859-4FF7-BB1D-58CA2CFBA3FB}"/>
              </a:ext>
            </a:extLst>
          </p:cNvPr>
          <p:cNvSpPr/>
          <p:nvPr/>
        </p:nvSpPr>
        <p:spPr>
          <a:xfrm>
            <a:off x="2542317" y="50257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B8E94CD-E408-4B84-A3CA-3803A527D1F3}"/>
              </a:ext>
            </a:extLst>
          </p:cNvPr>
          <p:cNvCxnSpPr>
            <a:cxnSpLocks/>
          </p:cNvCxnSpPr>
          <p:nvPr/>
        </p:nvCxnSpPr>
        <p:spPr>
          <a:xfrm>
            <a:off x="2562247" y="4929930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DCFEF87-DE7A-447E-B13B-FAC4172BDF20}"/>
              </a:ext>
            </a:extLst>
          </p:cNvPr>
          <p:cNvCxnSpPr>
            <a:cxnSpLocks/>
          </p:cNvCxnSpPr>
          <p:nvPr/>
        </p:nvCxnSpPr>
        <p:spPr>
          <a:xfrm flipH="1">
            <a:off x="2766874" y="4929930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D800CD8-615F-46B7-8693-8D47F2C040BD}"/>
              </a:ext>
            </a:extLst>
          </p:cNvPr>
          <p:cNvCxnSpPr>
            <a:endCxn id="78" idx="3"/>
          </p:cNvCxnSpPr>
          <p:nvPr/>
        </p:nvCxnSpPr>
        <p:spPr>
          <a:xfrm>
            <a:off x="2722317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0F1F0D8-27F7-43BB-B458-D99C4EFAB52D}"/>
              </a:ext>
            </a:extLst>
          </p:cNvPr>
          <p:cNvCxnSpPr/>
          <p:nvPr/>
        </p:nvCxnSpPr>
        <p:spPr>
          <a:xfrm>
            <a:off x="2768216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549B20C6-8397-469A-9B70-65F3BAC0321A}"/>
              </a:ext>
            </a:extLst>
          </p:cNvPr>
          <p:cNvSpPr txBox="1"/>
          <p:nvPr/>
        </p:nvSpPr>
        <p:spPr>
          <a:xfrm>
            <a:off x="2609474" y="5040144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CED6F80-4B2A-4A93-A93C-EDE1932AFFEE}"/>
              </a:ext>
            </a:extLst>
          </p:cNvPr>
          <p:cNvSpPr txBox="1"/>
          <p:nvPr/>
        </p:nvSpPr>
        <p:spPr>
          <a:xfrm>
            <a:off x="2542585" y="52670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848923D-030E-4AC3-9934-982B7674484B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62068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716755" y="3961905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716754" y="1145009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1223486" y="1137104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903420" y="906178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1230133" y="4029504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585237" y="91722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1232322" y="535124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866860" y="246981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869733" y="4352280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970468" y="41449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4092470" y="3166356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4124628" y="324767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1216375" y="118508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993705" y="22478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8161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Cat-7: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3119544" y="2434336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695158" y="130458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4239650" y="422324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945095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945095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695856" y="185373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945836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3032690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3052693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3010333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3169102" y="24640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913537" y="155798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4284839" y="1145696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4272449" y="173037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4239650" y="3942749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3126548" y="5158000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952099" y="504911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952099" y="449500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952840" y="4580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3039694" y="469437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3059697" y="47891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3017337" y="42931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3164369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2307527" y="18833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703848" y="4588023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2324065" y="46176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797310" y="505666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797310" y="450255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4106402" y="5146663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522180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695158" y="524662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913537" y="550002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797169" y="230825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797169" y="175414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4105163" y="2417780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529994" y="24718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591116" y="456702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646852" y="5779497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952969" y="3961361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6175847" y="3961361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6171913" y="394274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6023033" y="37515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974359" y="1152686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6197237" y="1152686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6193303" y="11340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6044423" y="942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324" y="3319036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5151024" y="2833929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5143210" y="3498231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5143210" y="2935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5151024" y="37380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857384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5408899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857384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5408899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7689896" y="4900465"/>
            <a:ext cx="4116711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APE/ANE)：AP/AN on ESD)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CO(E)：CO on ESD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80640DA-CEF4-C6C9-D9DA-6DBF031C54AC}"/>
              </a:ext>
            </a:extLst>
          </p:cNvPr>
          <p:cNvGraphicFramePr>
            <a:graphicFrameLocks noGrp="1"/>
          </p:cNvGraphicFramePr>
          <p:nvPr/>
        </p:nvGraphicFramePr>
        <p:xfrm>
          <a:off x="7591768" y="299608"/>
          <a:ext cx="4320000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349787042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2642112110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252909093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390784532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481678816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3679850664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9171947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028657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768026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07865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APE.XY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Bevel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XYmin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43464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0625558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3936583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7696788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8497538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ANE.XY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Bevel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XYmin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4580971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954498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427467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1.6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0487279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CDE.GC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CD(E)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000116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CSE.GC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CS(E)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187597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8746888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3939657"/>
                  </a:ext>
                </a:extLst>
              </a:tr>
            </a:tbl>
          </a:graphicData>
        </a:graphic>
      </p:graphicFrame>
      <p:sp>
        <p:nvSpPr>
          <p:cNvPr id="80" name="TextBox 79">
            <a:extLst>
              <a:ext uri="{FF2B5EF4-FFF2-40B4-BE49-F238E27FC236}">
                <a16:creationId xmlns:a16="http://schemas.microsoft.com/office/drawing/2014/main" id="{1C61A5DE-5992-4EC3-B000-C3A3D53FEEF5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33230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Cat-8: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PO.V1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759754" y="5562923"/>
            <a:ext cx="2030019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5000063" y="5894688"/>
            <a:ext cx="162818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AA/GC/M1/M2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2464235-F513-783D-B93D-065C950EAFDA}"/>
              </a:ext>
            </a:extLst>
          </p:cNvPr>
          <p:cNvGraphicFramePr>
            <a:graphicFrameLocks noGrp="1"/>
          </p:cNvGraphicFramePr>
          <p:nvPr/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5356543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204026684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90728555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11520378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2155246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67848829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0562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811869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00149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73816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71145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89529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736666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683465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624566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064761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464821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78112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038825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047183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15644037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7739997" y="3371784"/>
            <a:ext cx="4271999" cy="965581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739997" y="446496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7689896" y="4900465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on PO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on PO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PO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9E608EF-D37E-42C0-9FDD-8BF511A73826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07965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8863</TotalTime>
  <Words>5591</Words>
  <Application>Microsoft Office PowerPoint</Application>
  <PresentationFormat>Widescreen</PresentationFormat>
  <Paragraphs>2018</Paragraphs>
  <Slides>32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Aptos</vt:lpstr>
      <vt:lpstr>Aptos Display</vt:lpstr>
      <vt:lpstr>HGMaruGothicMPRO</vt:lpstr>
      <vt:lpstr>Meiryo</vt:lpstr>
      <vt:lpstr>Arial</vt:lpstr>
      <vt:lpstr>Courier New</vt:lpstr>
      <vt:lpstr>Office Theme</vt:lpstr>
      <vt:lpstr>TR-1um Design Rules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 Rule cotrol</vt:lpstr>
      <vt:lpstr>DRC</vt:lpstr>
      <vt:lpstr>Design to Tapeout Process</vt:lpstr>
      <vt:lpstr>Designer</vt:lpstr>
      <vt:lpstr>Obsolete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Obsolete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Rules Summary</dc:title>
  <dc:creator>Jun OKAMURA/岡村淳一</dc:creator>
  <cp:lastModifiedBy>Hiroyasu Ojiro</cp:lastModifiedBy>
  <cp:revision>217</cp:revision>
  <cp:lastPrinted>2025-12-26T07:04:29Z</cp:lastPrinted>
  <dcterms:created xsi:type="dcterms:W3CDTF">2025-11-21T00:35:17Z</dcterms:created>
  <dcterms:modified xsi:type="dcterms:W3CDTF">2026-07-27T02:52:46Z</dcterms:modified>
</cp:coreProperties>
</file>